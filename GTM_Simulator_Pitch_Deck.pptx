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view3D>
      <c:rotX val="30"/>
      <c:rotY val="30"/>
      <c:rAngAx val="0"/>
      <c:perspective val="30"/>
    </c:view3D>
    <c:plotArea>
      <c:layout/>
      <c:bar3DChart>
        <c:barDir val="col"/>
        <c:grouping val="standard"/>
        <c:varyColors val="0"/>
        <c:ser>
          <c:idx val="0"/>
          <c:order val="0"/>
          <c:tx>
            <c:strRef>
              <c:f>Sheet1!$B$1</c:f>
              <c:strCache>
                <c:ptCount val="1"/>
                <c:pt idx="0">
                  <c:v>Cost (USD)</c:v>
                </c:pt>
              </c:strCache>
            </c:strRef>
          </c:tx>
          <c:spPr>
            <a:solidFill>
              <a:srgbClr val="FF00FF"/>
            </a:solidFill>
            <a:effectLst/>
          </c:spPr>
          <c:invertIfNegative val="0"/>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ln>
                <a:solidFill>
                  <a:srgbClr val="FF00FF"/>
                </a:solidFill>
              </a:ln>
              <a:effectLst/>
            </c:spPr>
          </c:dPt>
          <c:dPt>
            <c:idx val="1"/>
            <c:invertIfNegative val="0"/>
            <c:bubble3D val="0"/>
            <c:spPr>
              <a:ln>
                <a:solidFill>
                  <a:srgbClr val="00F0FF"/>
                </a:solidFill>
              </a:ln>
              <a:effectLst/>
            </c:spPr>
          </c:dPt>
          <c:dPt>
            <c:idx val="2"/>
            <c:invertIfNegative val="0"/>
            <c:bubble3D val="0"/>
            <c:spPr>
              <a:ln>
                <a:solidFill>
                  <a:srgbClr val="00FF00"/>
                </a:solidFill>
              </a:ln>
              <a:effectLst/>
            </c:spPr>
          </c:dPt>
          <c:cat>
            <c:multiLvlStrRef>
              <c:f>Sheet1!$A$2:$A$4</c:f>
              <c:multiLvlStrCache>
                <c:ptCount val="3"/>
                <c:lvl>
                  <c:pt idx="0">
                    <c:v>GTM Consultant</c:v>
                  </c:pt>
                  <c:pt idx="1">
                    <c:v>Agency Retainer</c:v>
                  </c:pt>
                  <c:pt idx="2">
                    <c:v>GTM Simulator</c:v>
                  </c:pt>
                </c:lvl>
              </c:multiLvlStrCache>
            </c:multiLvlStrRef>
          </c:cat>
          <c:val>
            <c:numRef>
              <c:f>Sheet1!$B$2:$B$4</c:f>
              <c:numCache>
                <c:formatCode>General</c:formatCode>
                <c:ptCount val="3"/>
                <c:pt idx="0">
                  <c:v>15000</c:v>
                </c:pt>
                <c:pt idx="1">
                  <c:v>6000</c:v>
                </c:pt>
                <c:pt idx="2">
                  <c:v>49</c:v>
                </c:pt>
              </c:numCache>
            </c:numRef>
          </c:val>
        </c:ser>
        <c:dLbls>
          <c:numFmt formatCode="#,##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150"/>
        <c:gapDepth val="150"/>
        <c:shape val="box"/>
        <c:axId val="2094734554"/>
        <c:axId val="2094734552"/>
        <c:axId val="2094734556"/>
      </c:bar3D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AA6D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erAx>
        <c:axId val="2094734556"/>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serAx>
      <c:spPr>
        <a:solidFill>
          <a:srgbClr val="0A0E29">
            <a:alpha val="0"/>
          </a:srgbClr>
        </a:solidFill>
        <a:ln>
          <a:noFill/>
        </a:ln>
        <a:effectLst/>
      </c:spPr>
    </c:plotArea>
    <c:plotVisOnly val="1"/>
    <c:dispBlanksAs val="span"/>
  </c:chart>
  <c:spPr>
    <a:solidFill>
      <a:srgbClr val="0A0E29">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Big energy. 'We turn a founder's raw idea into a complete, simulated go-to-market plan in about a minute. I'm going to show you how — and why 9 out of 10 startups never get this right.' Hold on the title for a beat, then advance. (Manual: add fade-in + pulse on the title text and a slow rotate on the brain/rocket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pain. '90% of startups fail — and it's usually not the product. It's that they never build, test, or pressure-test a go-to-market plan.' Walk the three rows fast: burning cash guessing, GTM scattered across spreadsheets, and real GTM expertise priced out of reach for early teams. This is the wedge. (Manual: 3D parallax scroll on the collage; neon outline draw-on for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'One input — your idea — and the simulator returns four things every GTM plan needs: personas, ranked channels, a budget with CAC payback, and KPI targets you can simulate before spending a dollar.' Gesture to the floating dashboard mockup as the output. (Manual: 3D rotation / morph on the laptop mockup; glow-in on each feature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'Five stages, one minute: you describe the idea, our AI engine runs it through GTM models, it drafts the full plan, you simulate the funnel, and you export a shareable plan.' Emphasize speed and that it's a loop you can re-run. (Manual: animate the glowing arrows drawing left-to-right; give each node 3D depth on entrance.)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Replace this frame with your actual Loom embed or an autoplaying GIF before the finals. Script the demo tightly: type the idea, hit generate, narrate the four outputs as they appear, end on the exported plan. Keep it under 60 seconds so the claim is proven live, not just stated. (Manual: neon pulse on the play button; zoom transition into the video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model. 'We reach 10,000 paying founders in year one through a viral, product-led funnel.' Walk down the funnel: broad awareness in founder communities, a frictionless 60-second free trial, conversion to the paid full plan, and a referral loop because every exported plan is shareable. Numbers are illustrative targets — swap in your real projections. (Manual: animate each stage filling with neon as you narrate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Anchor on the contrast: a GTM plan that takes three weeks and $15k from a consultant, we deliver in 60 seconds for $49. The chart makes the cost gap visceral — bars are log-scale-worthy but shown raw for shock value. The +30% survival lift is a modeled estimate; caveat it as directional, not a guarantee. (Manual: 3D rotate the chart on entrance; neon glow pulse on the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Walk the roadmap left to right: MVP live now, beta with 500 founders next quarter, then a $1.2M seed round to scale the models and GTM data, and enterprise in 2027. Make the ask explicit and specific — the round size and what it buys. (Manual: camera pan along the timeline; neon pulse as each milestone lights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and contact. Leave this up during questions. Prep answers for the obvious ones: how the AI is grounded / accuracy, defensibility (the GTM data moat), pricing, and where the survival-lift number comes from. Replace the LinkedIn and website placeholders with your real handles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icon_brain.png">    </p:cNvPr>
          <p:cNvPicPr>
            <a:picLocks noChangeAspect="1"/>
          </p:cNvPicPr>
          <p:nvPr/>
        </p:nvPicPr>
        <p:blipFill>
          <a:blip r:embed="rId2"/>
          <a:stretch>
            <a:fillRect/>
          </a:stretch>
        </p:blipFill>
        <p:spPr>
          <a:xfrm>
            <a:off x="4709160" y="777240"/>
            <a:ext cx="1371600" cy="1371600"/>
          </a:xfrm>
          <a:prstGeom prst="rect">
            <a:avLst/>
          </a:prstGeom>
        </p:spPr>
      </p:pic>
      <p:pic>
        <p:nvPicPr>
          <p:cNvPr id="3" name="Image 1" descr="icon_rocket.png">    </p:cNvPr>
          <p:cNvPicPr>
            <a:picLocks noChangeAspect="1"/>
          </p:cNvPicPr>
          <p:nvPr/>
        </p:nvPicPr>
        <p:blipFill>
          <a:blip r:embed="rId3"/>
          <a:stretch>
            <a:fillRect/>
          </a:stretch>
        </p:blipFill>
        <p:spPr>
          <a:xfrm>
            <a:off x="6126480" y="777240"/>
            <a:ext cx="1371600" cy="1371600"/>
          </a:xfrm>
          <a:prstGeom prst="rect">
            <a:avLst/>
          </a:prstGeom>
        </p:spPr>
      </p:pic>
      <p:sp>
        <p:nvSpPr>
          <p:cNvPr id="4" name="Text 0"/>
          <p:cNvSpPr/>
          <p:nvPr/>
        </p:nvSpPr>
        <p:spPr>
          <a:xfrm>
            <a:off x="0" y="2331720"/>
            <a:ext cx="12191695" cy="365760"/>
          </a:xfrm>
          <a:prstGeom prst="rect">
            <a:avLst/>
          </a:prstGeom>
          <a:noFill/>
          <a:ln/>
        </p:spPr>
        <p:txBody>
          <a:bodyPr wrap="square" rtlCol="0" anchor="ctr"/>
          <a:lstStyle/>
          <a:p>
            <a:pPr algn="ctr" indent="0" marL="0">
              <a:buNone/>
            </a:pPr>
            <a:r>
              <a:rPr lang="en-US" sz="1400" b="1" spc="500" kern="0" dirty="0">
                <a:solidFill>
                  <a:srgbClr val="00F0FF"/>
                </a:solidFill>
                <a:effectLst>
                  <a:glow rad="101600">
                    <a:srgbClr val="00F0FF">
                      <a:alpha val="60000"/>
                    </a:srgbClr>
                  </a:glow>
                </a:effectLst>
                <a:latin typeface="Montserrat" pitchFamily="34" charset="0"/>
                <a:ea typeface="Montserrat" pitchFamily="34" charset="-122"/>
                <a:cs typeface="Montserrat" pitchFamily="34" charset="-120"/>
              </a:rPr>
              <a:t>HACKATHON FINALS · 2026</a:t>
            </a:r>
            <a:endParaRPr lang="en-US" sz="1400" dirty="0"/>
          </a:p>
        </p:txBody>
      </p:sp>
      <p:sp>
        <p:nvSpPr>
          <p:cNvPr id="5" name="Text 1"/>
          <p:cNvSpPr/>
          <p:nvPr/>
        </p:nvSpPr>
        <p:spPr>
          <a:xfrm>
            <a:off x="0" y="2697480"/>
            <a:ext cx="12191695" cy="960120"/>
          </a:xfrm>
          <a:prstGeom prst="rect">
            <a:avLst/>
          </a:prstGeom>
          <a:noFill/>
          <a:ln/>
        </p:spPr>
        <p:txBody>
          <a:bodyPr wrap="square" rtlCol="0" anchor="ctr"/>
          <a:lstStyle/>
          <a:p>
            <a:pPr algn="ctr" indent="0" marL="0">
              <a:buNone/>
            </a:pPr>
            <a:r>
              <a:rPr lang="en-US" sz="5800" b="1" dirty="0">
                <a:solidFill>
                  <a:srgbClr val="FFFFFF"/>
                </a:solidFill>
                <a:effectLst>
                  <a:glow rad="203200">
                    <a:srgbClr val="00F0FF">
                      <a:alpha val="70000"/>
                    </a:srgbClr>
                  </a:glow>
                </a:effectLst>
                <a:latin typeface="Montserrat" pitchFamily="34" charset="0"/>
                <a:ea typeface="Montserrat" pitchFamily="34" charset="-122"/>
                <a:cs typeface="Montserrat" pitchFamily="34" charset="-120"/>
              </a:rPr>
              <a:t>AI-POWERED GTM</a:t>
            </a:r>
            <a:endParaRPr lang="en-US" sz="5800" dirty="0"/>
          </a:p>
        </p:txBody>
      </p:sp>
      <p:sp>
        <p:nvSpPr>
          <p:cNvPr id="6" name="Text 2"/>
          <p:cNvSpPr/>
          <p:nvPr/>
        </p:nvSpPr>
        <p:spPr>
          <a:xfrm>
            <a:off x="0" y="3611880"/>
            <a:ext cx="12191695" cy="960120"/>
          </a:xfrm>
          <a:prstGeom prst="rect">
            <a:avLst/>
          </a:prstGeom>
          <a:noFill/>
          <a:ln/>
        </p:spPr>
        <p:txBody>
          <a:bodyPr wrap="square" rtlCol="0" anchor="ctr"/>
          <a:lstStyle/>
          <a:p>
            <a:pPr algn="ctr" indent="0" marL="0">
              <a:buNone/>
            </a:pPr>
            <a:r>
              <a:rPr lang="en-US" sz="5800" b="1" dirty="0">
                <a:solidFill>
                  <a:srgbClr val="FFFFFF"/>
                </a:solidFill>
                <a:effectLst>
                  <a:glow rad="203200">
                    <a:srgbClr val="FF00FF">
                      <a:alpha val="70000"/>
                    </a:srgbClr>
                  </a:glow>
                </a:effectLst>
                <a:latin typeface="Montserrat" pitchFamily="34" charset="0"/>
                <a:ea typeface="Montserrat" pitchFamily="34" charset="-122"/>
                <a:cs typeface="Montserrat" pitchFamily="34" charset="-120"/>
              </a:rPr>
              <a:t>STRATEGY SIMULATOR</a:t>
            </a:r>
            <a:endParaRPr lang="en-US" sz="5800" dirty="0"/>
          </a:p>
        </p:txBody>
      </p:sp>
      <p:sp>
        <p:nvSpPr>
          <p:cNvPr id="7" name="Text 3"/>
          <p:cNvSpPr/>
          <p:nvPr/>
        </p:nvSpPr>
        <p:spPr>
          <a:xfrm>
            <a:off x="0" y="4709160"/>
            <a:ext cx="12191695" cy="457200"/>
          </a:xfrm>
          <a:prstGeom prst="rect">
            <a:avLst/>
          </a:prstGeom>
          <a:noFill/>
          <a:ln/>
        </p:spPr>
        <p:txBody>
          <a:bodyPr wrap="square" rtlCol="0" anchor="ctr"/>
          <a:lstStyle/>
          <a:p>
            <a:pPr algn="ctr" indent="0" marL="0">
              <a:buNone/>
            </a:pPr>
            <a:r>
              <a:rPr lang="en-US" sz="2200" i="1" dirty="0">
                <a:solidFill>
                  <a:srgbClr val="00FF00"/>
                </a:solidFill>
                <a:effectLst>
                  <a:glow rad="101600">
                    <a:srgbClr val="00FF00">
                      <a:alpha val="55000"/>
                    </a:srgbClr>
                  </a:glow>
                </a:effectLst>
                <a:latin typeface="Arial" pitchFamily="34" charset="0"/>
                <a:ea typeface="Arial" pitchFamily="34" charset="-122"/>
                <a:cs typeface="Arial" pitchFamily="34" charset="-120"/>
              </a:rPr>
              <a:t>From Idea to GTM Plan in 60 Seconds</a:t>
            </a:r>
            <a:endParaRPr lang="en-US" sz="2200" dirty="0"/>
          </a:p>
        </p:txBody>
      </p:sp>
      <p:sp>
        <p:nvSpPr>
          <p:cNvPr id="8" name="Shape 4"/>
          <p:cNvSpPr/>
          <p:nvPr/>
        </p:nvSpPr>
        <p:spPr>
          <a:xfrm>
            <a:off x="5330952" y="5349240"/>
            <a:ext cx="1527048" cy="54864"/>
          </a:xfrm>
          <a:prstGeom prst="roundRect">
            <a:avLst>
              <a:gd name="adj" fmla="val 50000"/>
            </a:avLst>
          </a:prstGeom>
          <a:solidFill>
            <a:srgbClr val="00F0FF"/>
          </a:solidFill>
          <a:ln/>
          <a:effectLst>
            <a:outerShdw sx="100000" sy="100000" kx="0" ky="0" algn="bl" rotWithShape="0" blurRad="152400" dist="50800" dir="16200000">
              <a:srgbClr val="00F0FF">
                <a:alpha val="80000"/>
              </a:srgbClr>
            </a:outerShdw>
          </a:effectLst>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FF00FF"/>
                </a:solidFill>
                <a:effectLst>
                  <a:glow rad="101600">
                    <a:srgbClr val="FF00FF">
                      <a:alpha val="50000"/>
                    </a:srgbClr>
                  </a:glow>
                </a:effectLst>
                <a:latin typeface="Montserrat" pitchFamily="34" charset="0"/>
                <a:ea typeface="Montserrat" pitchFamily="34" charset="-122"/>
                <a:cs typeface="Montserrat" pitchFamily="34" charset="-120"/>
              </a:rPr>
              <a:t>THE PROBLEM</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FF00FF">
                      <a:alpha val="45000"/>
                    </a:srgbClr>
                  </a:glow>
                </a:effectLst>
                <a:latin typeface="Montserrat" pitchFamily="34" charset="0"/>
                <a:ea typeface="Montserrat" pitchFamily="34" charset="-122"/>
                <a:cs typeface="Montserrat" pitchFamily="34" charset="-120"/>
              </a:rPr>
              <a:t>90% of Startups Fail. Here's Why.</a:t>
            </a:r>
            <a:endParaRPr lang="en-US" sz="3300" dirty="0"/>
          </a:p>
        </p:txBody>
      </p:sp>
      <p:sp>
        <p:nvSpPr>
          <p:cNvPr id="4" name="Shape 2"/>
          <p:cNvSpPr/>
          <p:nvPr/>
        </p:nvSpPr>
        <p:spPr>
          <a:xfrm>
            <a:off x="8229600" y="1920240"/>
            <a:ext cx="3291840" cy="4023360"/>
          </a:xfrm>
          <a:prstGeom prst="roundRect">
            <a:avLst>
              <a:gd name="adj" fmla="val 3889"/>
            </a:avLst>
          </a:prstGeom>
          <a:solidFill>
            <a:srgbClr val="10173D">
              <a:alpha val="88000"/>
            </a:srgbClr>
          </a:solidFill>
          <a:ln w="19050">
            <a:solidFill>
              <a:srgbClr val="FF00FF"/>
            </a:solidFill>
            <a:prstDash val="solid"/>
          </a:ln>
          <a:effectLst>
            <a:outerShdw sx="100000" sy="100000" kx="0" ky="0" algn="bl" rotWithShape="0" blurRad="381000" dist="50800" dir="16200000">
              <a:srgbClr val="FF00FF">
                <a:alpha val="60000"/>
              </a:srgbClr>
            </a:outerShdw>
          </a:effectLst>
        </p:spPr>
      </p:sp>
      <p:sp>
        <p:nvSpPr>
          <p:cNvPr id="5" name="Text 3"/>
          <p:cNvSpPr/>
          <p:nvPr/>
        </p:nvSpPr>
        <p:spPr>
          <a:xfrm>
            <a:off x="8229600" y="2286000"/>
            <a:ext cx="3291840" cy="1280160"/>
          </a:xfrm>
          <a:prstGeom prst="rect">
            <a:avLst/>
          </a:prstGeom>
          <a:noFill/>
          <a:ln/>
        </p:spPr>
        <p:txBody>
          <a:bodyPr wrap="square" rtlCol="0" anchor="ctr"/>
          <a:lstStyle/>
          <a:p>
            <a:pPr algn="ctr" indent="0" marL="0">
              <a:buNone/>
            </a:pPr>
            <a:r>
              <a:rPr lang="en-US" sz="9000" b="1" dirty="0">
                <a:solidFill>
                  <a:srgbClr val="FF00FF"/>
                </a:solidFill>
                <a:effectLst>
                  <a:glow rad="228600">
                    <a:srgbClr val="FF00FF">
                      <a:alpha val="70000"/>
                    </a:srgbClr>
                  </a:glow>
                </a:effectLst>
                <a:latin typeface="Montserrat" pitchFamily="34" charset="0"/>
                <a:ea typeface="Montserrat" pitchFamily="34" charset="-122"/>
                <a:cs typeface="Montserrat" pitchFamily="34" charset="-120"/>
              </a:rPr>
              <a:t>90%</a:t>
            </a:r>
            <a:endParaRPr lang="en-US" sz="9000" dirty="0"/>
          </a:p>
        </p:txBody>
      </p:sp>
      <p:sp>
        <p:nvSpPr>
          <p:cNvPr id="6" name="Text 4"/>
          <p:cNvSpPr/>
          <p:nvPr/>
        </p:nvSpPr>
        <p:spPr>
          <a:xfrm>
            <a:off x="8458200" y="3657600"/>
            <a:ext cx="2834640" cy="1920240"/>
          </a:xfrm>
          <a:prstGeom prst="rect">
            <a:avLst/>
          </a:prstGeom>
          <a:noFill/>
          <a:ln/>
        </p:spPr>
        <p:txBody>
          <a:bodyPr wrap="square" rtlCol="0" anchor="ctr"/>
          <a:lstStyle/>
          <a:p>
            <a:pPr algn="ctr" indent="0" marL="0">
              <a:lnSpc>
                <a:spcPct val="115000"/>
              </a:lnSpc>
              <a:buNone/>
            </a:pPr>
            <a:r>
              <a:rPr lang="en-US" sz="1500" dirty="0">
                <a:solidFill>
                  <a:srgbClr val="9AA6D6"/>
                </a:solidFill>
                <a:latin typeface="Arial" pitchFamily="34" charset="0"/>
                <a:ea typeface="Arial" pitchFamily="34" charset="-122"/>
                <a:cs typeface="Arial" pitchFamily="34" charset="-120"/>
              </a:rPr>
              <a:t>of startups fail — most from a broken or missing go-to-market plan, not a bad product.</a:t>
            </a:r>
            <a:endParaRPr lang="en-US" sz="1500" dirty="0"/>
          </a:p>
        </p:txBody>
      </p:sp>
      <p:sp>
        <p:nvSpPr>
          <p:cNvPr id="7" name="Shape 5"/>
          <p:cNvSpPr/>
          <p:nvPr/>
        </p:nvSpPr>
        <p:spPr>
          <a:xfrm>
            <a:off x="640080" y="1965960"/>
            <a:ext cx="7223760" cy="1170432"/>
          </a:xfrm>
          <a:prstGeom prst="roundRect">
            <a:avLst>
              <a:gd name="adj" fmla="val 10938"/>
            </a:avLst>
          </a:prstGeom>
          <a:solidFill>
            <a:srgbClr val="141C4A">
              <a:alpha val="90000"/>
            </a:srgbClr>
          </a:solidFill>
          <a:ln w="19050">
            <a:solidFill>
              <a:srgbClr val="00FF00"/>
            </a:solidFill>
            <a:prstDash val="solid"/>
          </a:ln>
          <a:effectLst>
            <a:outerShdw sx="100000" sy="100000" kx="0" ky="0" algn="bl" rotWithShape="0" blurRad="203200" dist="50800" dir="16200000">
              <a:srgbClr val="00FF00">
                <a:alpha val="45000"/>
              </a:srgbClr>
            </a:outerShdw>
          </a:effectLst>
        </p:spPr>
      </p:sp>
      <p:pic>
        <p:nvPicPr>
          <p:cNvPr id="8" name="Image 0" descr="icon_fire.png">    </p:cNvPr>
          <p:cNvPicPr>
            <a:picLocks noChangeAspect="1"/>
          </p:cNvPicPr>
          <p:nvPr/>
        </p:nvPicPr>
        <p:blipFill>
          <a:blip r:embed="rId2"/>
          <a:stretch>
            <a:fillRect/>
          </a:stretch>
        </p:blipFill>
        <p:spPr>
          <a:xfrm>
            <a:off x="786384" y="2139696"/>
            <a:ext cx="822960" cy="822960"/>
          </a:xfrm>
          <a:prstGeom prst="rect">
            <a:avLst/>
          </a:prstGeom>
        </p:spPr>
      </p:pic>
      <p:sp>
        <p:nvSpPr>
          <p:cNvPr id="9" name="Text 6"/>
          <p:cNvSpPr/>
          <p:nvPr/>
        </p:nvSpPr>
        <p:spPr>
          <a:xfrm>
            <a:off x="1783080" y="2112264"/>
            <a:ext cx="5852160" cy="384048"/>
          </a:xfrm>
          <a:prstGeom prst="rect">
            <a:avLst/>
          </a:prstGeom>
          <a:noFill/>
          <a:ln/>
        </p:spPr>
        <p:txBody>
          <a:bodyPr wrap="square" rtlCol="0" anchor="ctr"/>
          <a:lstStyle/>
          <a:p>
            <a:pPr indent="0" marL="0">
              <a:buNone/>
            </a:pPr>
            <a:r>
              <a:rPr lang="en-US" sz="1800" b="1" dirty="0">
                <a:solidFill>
                  <a:srgbClr val="00FF00"/>
                </a:solidFill>
                <a:effectLst>
                  <a:glow rad="76200">
                    <a:srgbClr val="00FF00">
                      <a:alpha val="40000"/>
                    </a:srgbClr>
                  </a:glow>
                </a:effectLst>
                <a:latin typeface="Montserrat" pitchFamily="34" charset="0"/>
                <a:ea typeface="Montserrat" pitchFamily="34" charset="-122"/>
                <a:cs typeface="Montserrat" pitchFamily="34" charset="-120"/>
              </a:rPr>
              <a:t>Cash burns fast</a:t>
            </a:r>
            <a:endParaRPr lang="en-US" sz="1800" dirty="0"/>
          </a:p>
        </p:txBody>
      </p:sp>
      <p:sp>
        <p:nvSpPr>
          <p:cNvPr id="10" name="Text 7"/>
          <p:cNvSpPr/>
          <p:nvPr/>
        </p:nvSpPr>
        <p:spPr>
          <a:xfrm>
            <a:off x="1783080" y="2496312"/>
            <a:ext cx="5943600" cy="566928"/>
          </a:xfrm>
          <a:prstGeom prst="rect">
            <a:avLst/>
          </a:prstGeom>
          <a:noFill/>
          <a:ln/>
        </p:spPr>
        <p:txBody>
          <a:bodyPr wrap="square" rtlCol="0" anchor="ctr"/>
          <a:lstStyle/>
          <a:p>
            <a:pPr indent="0" marL="0">
              <a:lnSpc>
                <a:spcPct val="105000"/>
              </a:lnSpc>
              <a:buNone/>
            </a:pPr>
            <a:r>
              <a:rPr lang="en-US" sz="1300" dirty="0">
                <a:solidFill>
                  <a:srgbClr val="9AA6D6"/>
                </a:solidFill>
                <a:latin typeface="Arial" pitchFamily="34" charset="0"/>
                <a:ea typeface="Arial" pitchFamily="34" charset="-122"/>
                <a:cs typeface="Arial" pitchFamily="34" charset="-120"/>
              </a:rPr>
              <a:t>Founders spend months and thousands guessing at channels, pricing, and personas.</a:t>
            </a:r>
            <a:endParaRPr lang="en-US" sz="1300" dirty="0"/>
          </a:p>
        </p:txBody>
      </p:sp>
      <p:sp>
        <p:nvSpPr>
          <p:cNvPr id="11" name="Shape 8"/>
          <p:cNvSpPr/>
          <p:nvPr/>
        </p:nvSpPr>
        <p:spPr>
          <a:xfrm>
            <a:off x="640080" y="3291840"/>
            <a:ext cx="7223760" cy="1170432"/>
          </a:xfrm>
          <a:prstGeom prst="roundRect">
            <a:avLst>
              <a:gd name="adj" fmla="val 10938"/>
            </a:avLst>
          </a:prstGeom>
          <a:solidFill>
            <a:srgbClr val="141C4A">
              <a:alpha val="90000"/>
            </a:srgbClr>
          </a:solidFill>
          <a:ln w="19050">
            <a:solidFill>
              <a:srgbClr val="00F0FF"/>
            </a:solidFill>
            <a:prstDash val="solid"/>
          </a:ln>
          <a:effectLst>
            <a:outerShdw sx="100000" sy="100000" kx="0" ky="0" algn="bl" rotWithShape="0" blurRad="203200" dist="50800" dir="16200000">
              <a:srgbClr val="00F0FF">
                <a:alpha val="45000"/>
              </a:srgbClr>
            </a:outerShdw>
          </a:effectLst>
        </p:spPr>
      </p:sp>
      <p:pic>
        <p:nvPicPr>
          <p:cNvPr id="12" name="Image 1" descr="icon_table.png">    </p:cNvPr>
          <p:cNvPicPr>
            <a:picLocks noChangeAspect="1"/>
          </p:cNvPicPr>
          <p:nvPr/>
        </p:nvPicPr>
        <p:blipFill>
          <a:blip r:embed="rId3"/>
          <a:stretch>
            <a:fillRect/>
          </a:stretch>
        </p:blipFill>
        <p:spPr>
          <a:xfrm>
            <a:off x="786384" y="3465576"/>
            <a:ext cx="822960" cy="822960"/>
          </a:xfrm>
          <a:prstGeom prst="rect">
            <a:avLst/>
          </a:prstGeom>
        </p:spPr>
      </p:pic>
      <p:sp>
        <p:nvSpPr>
          <p:cNvPr id="13" name="Text 9"/>
          <p:cNvSpPr/>
          <p:nvPr/>
        </p:nvSpPr>
        <p:spPr>
          <a:xfrm>
            <a:off x="1783080" y="3438144"/>
            <a:ext cx="5852160" cy="384048"/>
          </a:xfrm>
          <a:prstGeom prst="rect">
            <a:avLst/>
          </a:prstGeom>
          <a:noFill/>
          <a:ln/>
        </p:spPr>
        <p:txBody>
          <a:bodyPr wrap="square" rtlCol="0" anchor="ctr"/>
          <a:lstStyle/>
          <a:p>
            <a:pPr indent="0" marL="0">
              <a:buNone/>
            </a:pPr>
            <a:r>
              <a:rPr lang="en-US" sz="1800" b="1"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Spreadsheet chaos</a:t>
            </a:r>
            <a:endParaRPr lang="en-US" sz="1800" dirty="0"/>
          </a:p>
        </p:txBody>
      </p:sp>
      <p:sp>
        <p:nvSpPr>
          <p:cNvPr id="14" name="Text 10"/>
          <p:cNvSpPr/>
          <p:nvPr/>
        </p:nvSpPr>
        <p:spPr>
          <a:xfrm>
            <a:off x="1783080" y="3822192"/>
            <a:ext cx="5943600" cy="566928"/>
          </a:xfrm>
          <a:prstGeom prst="rect">
            <a:avLst/>
          </a:prstGeom>
          <a:noFill/>
          <a:ln/>
        </p:spPr>
        <p:txBody>
          <a:bodyPr wrap="square" rtlCol="0" anchor="ctr"/>
          <a:lstStyle/>
          <a:p>
            <a:pPr indent="0" marL="0">
              <a:lnSpc>
                <a:spcPct val="105000"/>
              </a:lnSpc>
              <a:buNone/>
            </a:pPr>
            <a:r>
              <a:rPr lang="en-US" sz="1300" dirty="0">
                <a:solidFill>
                  <a:srgbClr val="9AA6D6"/>
                </a:solidFill>
                <a:latin typeface="Arial" pitchFamily="34" charset="0"/>
                <a:ea typeface="Arial" pitchFamily="34" charset="-122"/>
                <a:cs typeface="Arial" pitchFamily="34" charset="-120"/>
              </a:rPr>
              <a:t>GTM lives in scattered docs and gut-feel — no model, no simulation, no way to test it.</a:t>
            </a:r>
            <a:endParaRPr lang="en-US" sz="1300" dirty="0"/>
          </a:p>
        </p:txBody>
      </p:sp>
      <p:sp>
        <p:nvSpPr>
          <p:cNvPr id="15" name="Shape 11"/>
          <p:cNvSpPr/>
          <p:nvPr/>
        </p:nvSpPr>
        <p:spPr>
          <a:xfrm>
            <a:off x="640080" y="4617720"/>
            <a:ext cx="7223760" cy="1170432"/>
          </a:xfrm>
          <a:prstGeom prst="roundRect">
            <a:avLst>
              <a:gd name="adj" fmla="val 10938"/>
            </a:avLst>
          </a:prstGeom>
          <a:solidFill>
            <a:srgbClr val="141C4A">
              <a:alpha val="90000"/>
            </a:srgbClr>
          </a:solidFill>
          <a:ln w="19050">
            <a:solidFill>
              <a:srgbClr val="FF00FF"/>
            </a:solidFill>
            <a:prstDash val="solid"/>
          </a:ln>
          <a:effectLst>
            <a:outerShdw sx="100000" sy="100000" kx="0" ky="0" algn="bl" rotWithShape="0" blurRad="203200" dist="50800" dir="16200000">
              <a:srgbClr val="FF00FF">
                <a:alpha val="45000"/>
              </a:srgbClr>
            </a:outerShdw>
          </a:effectLst>
        </p:spPr>
      </p:sp>
      <p:pic>
        <p:nvPicPr>
          <p:cNvPr id="16" name="Image 2" descr="icon_users.png">    </p:cNvPr>
          <p:cNvPicPr>
            <a:picLocks noChangeAspect="1"/>
          </p:cNvPicPr>
          <p:nvPr/>
        </p:nvPicPr>
        <p:blipFill>
          <a:blip r:embed="rId4"/>
          <a:stretch>
            <a:fillRect/>
          </a:stretch>
        </p:blipFill>
        <p:spPr>
          <a:xfrm>
            <a:off x="786384" y="4791456"/>
            <a:ext cx="822960" cy="822960"/>
          </a:xfrm>
          <a:prstGeom prst="rect">
            <a:avLst/>
          </a:prstGeom>
        </p:spPr>
      </p:pic>
      <p:sp>
        <p:nvSpPr>
          <p:cNvPr id="17" name="Text 12"/>
          <p:cNvSpPr/>
          <p:nvPr/>
        </p:nvSpPr>
        <p:spPr>
          <a:xfrm>
            <a:off x="1783080" y="4764024"/>
            <a:ext cx="5852160" cy="384048"/>
          </a:xfrm>
          <a:prstGeom prst="rect">
            <a:avLst/>
          </a:prstGeom>
          <a:noFill/>
          <a:ln/>
        </p:spPr>
        <p:txBody>
          <a:bodyPr wrap="square" rtlCol="0" anchor="ctr"/>
          <a:lstStyle/>
          <a:p>
            <a:pPr indent="0" marL="0">
              <a:buNone/>
            </a:pPr>
            <a:r>
              <a:rPr lang="en-US" sz="1800" b="1" dirty="0">
                <a:solidFill>
                  <a:srgbClr val="FF00FF"/>
                </a:solidFill>
                <a:effectLst>
                  <a:glow rad="76200">
                    <a:srgbClr val="FF00FF">
                      <a:alpha val="40000"/>
                    </a:srgbClr>
                  </a:glow>
                </a:effectLst>
                <a:latin typeface="Montserrat" pitchFamily="34" charset="0"/>
                <a:ea typeface="Montserrat" pitchFamily="34" charset="-122"/>
                <a:cs typeface="Montserrat" pitchFamily="34" charset="-120"/>
              </a:rPr>
              <a:t>No expert access</a:t>
            </a:r>
            <a:endParaRPr lang="en-US" sz="1800" dirty="0"/>
          </a:p>
        </p:txBody>
      </p:sp>
      <p:sp>
        <p:nvSpPr>
          <p:cNvPr id="18" name="Text 13"/>
          <p:cNvSpPr/>
          <p:nvPr/>
        </p:nvSpPr>
        <p:spPr>
          <a:xfrm>
            <a:off x="1783080" y="5148072"/>
            <a:ext cx="5943600" cy="566928"/>
          </a:xfrm>
          <a:prstGeom prst="rect">
            <a:avLst/>
          </a:prstGeom>
          <a:noFill/>
          <a:ln/>
        </p:spPr>
        <p:txBody>
          <a:bodyPr wrap="square" rtlCol="0" anchor="ctr"/>
          <a:lstStyle/>
          <a:p>
            <a:pPr indent="0" marL="0">
              <a:lnSpc>
                <a:spcPct val="105000"/>
              </a:lnSpc>
              <a:buNone/>
            </a:pPr>
            <a:r>
              <a:rPr lang="en-US" sz="1300" dirty="0">
                <a:solidFill>
                  <a:srgbClr val="9AA6D6"/>
                </a:solidFill>
                <a:latin typeface="Arial" pitchFamily="34" charset="0"/>
                <a:ea typeface="Arial" pitchFamily="34" charset="-122"/>
                <a:cs typeface="Arial" pitchFamily="34" charset="-120"/>
              </a:rPr>
              <a:t>A GTM consultant costs $10k+. Early teams can't afford one, so they fly blind.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00F0FF"/>
                </a:solidFill>
                <a:effectLst>
                  <a:glow rad="101600">
                    <a:srgbClr val="00F0FF">
                      <a:alpha val="50000"/>
                    </a:srgbClr>
                  </a:glow>
                </a:effectLst>
                <a:latin typeface="Montserrat" pitchFamily="34" charset="0"/>
                <a:ea typeface="Montserrat" pitchFamily="34" charset="-122"/>
                <a:cs typeface="Montserrat" pitchFamily="34" charset="-120"/>
              </a:rPr>
              <a:t>THE SOLUTION</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00F0FF">
                      <a:alpha val="45000"/>
                    </a:srgbClr>
                  </a:glow>
                </a:effectLst>
                <a:latin typeface="Montserrat" pitchFamily="34" charset="0"/>
                <a:ea typeface="Montserrat" pitchFamily="34" charset="-122"/>
                <a:cs typeface="Montserrat" pitchFamily="34" charset="-120"/>
              </a:rPr>
              <a:t>One Simulator. A Full GTM Plan.</a:t>
            </a:r>
            <a:endParaRPr lang="en-US" sz="3300" dirty="0"/>
          </a:p>
        </p:txBody>
      </p:sp>
      <p:sp>
        <p:nvSpPr>
          <p:cNvPr id="4" name="Shape 2"/>
          <p:cNvSpPr/>
          <p:nvPr/>
        </p:nvSpPr>
        <p:spPr>
          <a:xfrm>
            <a:off x="7635240" y="2148840"/>
            <a:ext cx="3931920" cy="2468880"/>
          </a:xfrm>
          <a:prstGeom prst="roundRect">
            <a:avLst>
              <a:gd name="adj" fmla="val 3704"/>
            </a:avLst>
          </a:prstGeom>
          <a:solidFill>
            <a:srgbClr val="070B22"/>
          </a:solidFill>
          <a:ln w="25400">
            <a:solidFill>
              <a:srgbClr val="00F0FF"/>
            </a:solidFill>
            <a:prstDash val="solid"/>
          </a:ln>
          <a:effectLst>
            <a:outerShdw sx="100000" sy="100000" kx="0" ky="0" algn="bl" rotWithShape="0" blurRad="431800" dist="50800" dir="16200000">
              <a:srgbClr val="00F0FF">
                <a:alpha val="70000"/>
              </a:srgbClr>
            </a:outerShdw>
          </a:effectLst>
        </p:spPr>
      </p:sp>
      <p:sp>
        <p:nvSpPr>
          <p:cNvPr id="5" name="Text 3"/>
          <p:cNvSpPr/>
          <p:nvPr/>
        </p:nvSpPr>
        <p:spPr>
          <a:xfrm>
            <a:off x="7818120" y="2276856"/>
            <a:ext cx="3566160" cy="274320"/>
          </a:xfrm>
          <a:prstGeom prst="rect">
            <a:avLst/>
          </a:prstGeom>
          <a:noFill/>
          <a:ln/>
        </p:spPr>
        <p:txBody>
          <a:bodyPr wrap="square" rtlCol="0" anchor="ctr"/>
          <a:lstStyle/>
          <a:p>
            <a:pPr indent="0" marL="0">
              <a:buNone/>
            </a:pPr>
            <a:r>
              <a:rPr lang="en-US" sz="1000" b="1" spc="200" kern="0" dirty="0">
                <a:solidFill>
                  <a:srgbClr val="00F0FF"/>
                </a:solidFill>
                <a:latin typeface="Montserrat" pitchFamily="34" charset="0"/>
                <a:ea typeface="Montserrat" pitchFamily="34" charset="-122"/>
                <a:cs typeface="Montserrat" pitchFamily="34" charset="-120"/>
              </a:rPr>
              <a:t>GTM PLAN · LIVE SIM</a:t>
            </a:r>
            <a:endParaRPr lang="en-US" sz="1000" dirty="0"/>
          </a:p>
        </p:txBody>
      </p:sp>
      <p:sp>
        <p:nvSpPr>
          <p:cNvPr id="6" name="Shape 4"/>
          <p:cNvSpPr/>
          <p:nvPr/>
        </p:nvSpPr>
        <p:spPr>
          <a:xfrm>
            <a:off x="7955280" y="3291840"/>
            <a:ext cx="384048" cy="822960"/>
          </a:xfrm>
          <a:prstGeom prst="roundRect">
            <a:avLst>
              <a:gd name="adj" fmla="val 9524"/>
            </a:avLst>
          </a:prstGeom>
          <a:solidFill>
            <a:srgbClr val="00F0FF"/>
          </a:solidFill>
          <a:ln/>
          <a:effectLst>
            <a:outerShdw sx="100000" sy="100000" kx="0" ky="0" algn="bl" rotWithShape="0" blurRad="101600" dist="50800" dir="16200000">
              <a:srgbClr val="00F0FF">
                <a:alpha val="60000"/>
              </a:srgbClr>
            </a:outerShdw>
          </a:effectLst>
        </p:spPr>
      </p:sp>
      <p:sp>
        <p:nvSpPr>
          <p:cNvPr id="7" name="Shape 5"/>
          <p:cNvSpPr/>
          <p:nvPr/>
        </p:nvSpPr>
        <p:spPr>
          <a:xfrm>
            <a:off x="8522208" y="2743200"/>
            <a:ext cx="384048" cy="1371600"/>
          </a:xfrm>
          <a:prstGeom prst="roundRect">
            <a:avLst>
              <a:gd name="adj" fmla="val 9524"/>
            </a:avLst>
          </a:prstGeom>
          <a:solidFill>
            <a:srgbClr val="FF00FF"/>
          </a:solidFill>
          <a:ln/>
          <a:effectLst>
            <a:outerShdw sx="100000" sy="100000" kx="0" ky="0" algn="bl" rotWithShape="0" blurRad="101600" dist="50800" dir="16200000">
              <a:srgbClr val="FF00FF">
                <a:alpha val="60000"/>
              </a:srgbClr>
            </a:outerShdw>
          </a:effectLst>
        </p:spPr>
      </p:sp>
      <p:sp>
        <p:nvSpPr>
          <p:cNvPr id="8" name="Shape 6"/>
          <p:cNvSpPr/>
          <p:nvPr/>
        </p:nvSpPr>
        <p:spPr>
          <a:xfrm>
            <a:off x="9089136" y="3063240"/>
            <a:ext cx="384048" cy="1051560"/>
          </a:xfrm>
          <a:prstGeom prst="roundRect">
            <a:avLst>
              <a:gd name="adj" fmla="val 9524"/>
            </a:avLst>
          </a:prstGeom>
          <a:solidFill>
            <a:srgbClr val="00FF00"/>
          </a:solidFill>
          <a:ln/>
          <a:effectLst>
            <a:outerShdw sx="100000" sy="100000" kx="0" ky="0" algn="bl" rotWithShape="0" blurRad="101600" dist="50800" dir="16200000">
              <a:srgbClr val="00FF00">
                <a:alpha val="60000"/>
              </a:srgbClr>
            </a:outerShdw>
          </a:effectLst>
        </p:spPr>
      </p:sp>
      <p:sp>
        <p:nvSpPr>
          <p:cNvPr id="9" name="Shape 7"/>
          <p:cNvSpPr/>
          <p:nvPr/>
        </p:nvSpPr>
        <p:spPr>
          <a:xfrm>
            <a:off x="9656064" y="2423160"/>
            <a:ext cx="384048" cy="1691640"/>
          </a:xfrm>
          <a:prstGeom prst="roundRect">
            <a:avLst>
              <a:gd name="adj" fmla="val 9524"/>
            </a:avLst>
          </a:prstGeom>
          <a:solidFill>
            <a:srgbClr val="00F0FF"/>
          </a:solidFill>
          <a:ln/>
          <a:effectLst>
            <a:outerShdw sx="100000" sy="100000" kx="0" ky="0" algn="bl" rotWithShape="0" blurRad="101600" dist="50800" dir="16200000">
              <a:srgbClr val="00F0FF">
                <a:alpha val="60000"/>
              </a:srgbClr>
            </a:outerShdw>
          </a:effectLst>
        </p:spPr>
      </p:sp>
      <p:sp>
        <p:nvSpPr>
          <p:cNvPr id="10" name="Shape 8"/>
          <p:cNvSpPr/>
          <p:nvPr/>
        </p:nvSpPr>
        <p:spPr>
          <a:xfrm>
            <a:off x="10222992" y="2880360"/>
            <a:ext cx="384048" cy="1234440"/>
          </a:xfrm>
          <a:prstGeom prst="roundRect">
            <a:avLst>
              <a:gd name="adj" fmla="val 9524"/>
            </a:avLst>
          </a:prstGeom>
          <a:solidFill>
            <a:srgbClr val="FF00FF"/>
          </a:solidFill>
          <a:ln/>
          <a:effectLst>
            <a:outerShdw sx="100000" sy="100000" kx="0" ky="0" algn="bl" rotWithShape="0" blurRad="101600" dist="50800" dir="16200000">
              <a:srgbClr val="FF00FF">
                <a:alpha val="60000"/>
              </a:srgbClr>
            </a:outerShdw>
          </a:effectLst>
        </p:spPr>
      </p:sp>
      <p:sp>
        <p:nvSpPr>
          <p:cNvPr id="11" name="Shape 9"/>
          <p:cNvSpPr/>
          <p:nvPr/>
        </p:nvSpPr>
        <p:spPr>
          <a:xfrm rot="10800000">
            <a:off x="7132320" y="4636008"/>
            <a:ext cx="4937760" cy="292608"/>
          </a:xfrm>
          <a:prstGeom prst="trapezoid">
            <a:avLst/>
          </a:prstGeom>
          <a:solidFill>
            <a:srgbClr val="1A2350"/>
          </a:solidFill>
          <a:ln w="12700">
            <a:solidFill>
              <a:srgbClr val="00F0FF"/>
            </a:solidFill>
            <a:prstDash val="solid"/>
          </a:ln>
          <a:effectLst>
            <a:outerShdw sx="100000" sy="100000" kx="0" ky="0" algn="bl" rotWithShape="0" blurRad="177800" dist="50800" dir="16200000">
              <a:srgbClr val="00F0FF">
                <a:alpha val="50000"/>
              </a:srgbClr>
            </a:outerShdw>
          </a:effectLst>
        </p:spPr>
      </p:sp>
      <p:sp>
        <p:nvSpPr>
          <p:cNvPr id="12" name="Text 10"/>
          <p:cNvSpPr/>
          <p:nvPr/>
        </p:nvSpPr>
        <p:spPr>
          <a:xfrm>
            <a:off x="7315200" y="5074920"/>
            <a:ext cx="4572000" cy="548640"/>
          </a:xfrm>
          <a:prstGeom prst="rect">
            <a:avLst/>
          </a:prstGeom>
          <a:noFill/>
          <a:ln/>
        </p:spPr>
        <p:txBody>
          <a:bodyPr wrap="square" rtlCol="0" anchor="ctr"/>
          <a:lstStyle/>
          <a:p>
            <a:pPr algn="ctr" indent="0" marL="0">
              <a:buNone/>
            </a:pPr>
            <a:r>
              <a:rPr lang="en-US" sz="1200" i="1" dirty="0">
                <a:solidFill>
                  <a:srgbClr val="9AA6D6"/>
                </a:solidFill>
                <a:latin typeface="Arial" pitchFamily="34" charset="0"/>
                <a:ea typeface="Arial" pitchFamily="34" charset="-122"/>
                <a:cs typeface="Arial" pitchFamily="34" charset="-120"/>
              </a:rPr>
              <a:t>Floating GTM dashboard — personas, channels, budget &amp; KPIs in one view</a:t>
            </a:r>
            <a:endParaRPr lang="en-US" sz="1200" dirty="0"/>
          </a:p>
        </p:txBody>
      </p:sp>
      <p:sp>
        <p:nvSpPr>
          <p:cNvPr id="13" name="Shape 11"/>
          <p:cNvSpPr/>
          <p:nvPr/>
        </p:nvSpPr>
        <p:spPr>
          <a:xfrm>
            <a:off x="640080" y="2148840"/>
            <a:ext cx="3017520" cy="1691640"/>
          </a:xfrm>
          <a:prstGeom prst="roundRect">
            <a:avLst>
              <a:gd name="adj" fmla="val 7568"/>
            </a:avLst>
          </a:prstGeom>
          <a:solidFill>
            <a:srgbClr val="10173D">
              <a:alpha val="88000"/>
            </a:srgbClr>
          </a:solidFill>
          <a:ln w="19050">
            <a:solidFill>
              <a:srgbClr val="00F0FF"/>
            </a:solidFill>
            <a:prstDash val="solid"/>
          </a:ln>
          <a:effectLst>
            <a:outerShdw sx="100000" sy="100000" kx="0" ky="0" algn="bl" rotWithShape="0" blurRad="203200" dist="50800" dir="16200000">
              <a:srgbClr val="00F0FF">
                <a:alpha val="45000"/>
              </a:srgbClr>
            </a:outerShdw>
          </a:effectLst>
        </p:spPr>
      </p:sp>
      <p:pic>
        <p:nvPicPr>
          <p:cNvPr id="14" name="Image 0" descr="icon_users.png">    </p:cNvPr>
          <p:cNvPicPr>
            <a:picLocks noChangeAspect="1"/>
          </p:cNvPicPr>
          <p:nvPr/>
        </p:nvPicPr>
        <p:blipFill>
          <a:blip r:embed="rId2"/>
          <a:stretch>
            <a:fillRect/>
          </a:stretch>
        </p:blipFill>
        <p:spPr>
          <a:xfrm>
            <a:off x="822960" y="2350008"/>
            <a:ext cx="731520" cy="731520"/>
          </a:xfrm>
          <a:prstGeom prst="rect">
            <a:avLst/>
          </a:prstGeom>
        </p:spPr>
      </p:pic>
      <p:sp>
        <p:nvSpPr>
          <p:cNvPr id="15" name="Text 12"/>
          <p:cNvSpPr/>
          <p:nvPr/>
        </p:nvSpPr>
        <p:spPr>
          <a:xfrm>
            <a:off x="1600200" y="2459736"/>
            <a:ext cx="1920240" cy="457200"/>
          </a:xfrm>
          <a:prstGeom prst="rect">
            <a:avLst/>
          </a:prstGeom>
          <a:noFill/>
          <a:ln/>
        </p:spPr>
        <p:txBody>
          <a:bodyPr wrap="square" rtlCol="0" anchor="ctr"/>
          <a:lstStyle/>
          <a:p>
            <a:pPr indent="0" marL="0">
              <a:buNone/>
            </a:pPr>
            <a:r>
              <a:rPr lang="en-US" sz="1700" b="1"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Personas</a:t>
            </a:r>
            <a:endParaRPr lang="en-US" sz="1700" dirty="0"/>
          </a:p>
        </p:txBody>
      </p:sp>
      <p:sp>
        <p:nvSpPr>
          <p:cNvPr id="16" name="Text 13"/>
          <p:cNvSpPr/>
          <p:nvPr/>
        </p:nvSpPr>
        <p:spPr>
          <a:xfrm>
            <a:off x="841248" y="3081528"/>
            <a:ext cx="2697480" cy="658368"/>
          </a:xfrm>
          <a:prstGeom prst="rect">
            <a:avLst/>
          </a:prstGeom>
          <a:noFill/>
          <a:ln/>
        </p:spPr>
        <p:txBody>
          <a:bodyPr wrap="square" rtlCol="0" anchor="ctr"/>
          <a:lstStyle/>
          <a:p>
            <a:pPr indent="0" marL="0">
              <a:lnSpc>
                <a:spcPct val="105000"/>
              </a:lnSpc>
              <a:buNone/>
            </a:pPr>
            <a:r>
              <a:rPr lang="en-US" sz="1200" dirty="0">
                <a:solidFill>
                  <a:srgbClr val="9AA6D6"/>
                </a:solidFill>
                <a:latin typeface="Arial" pitchFamily="34" charset="0"/>
                <a:ea typeface="Arial" pitchFamily="34" charset="-122"/>
                <a:cs typeface="Arial" pitchFamily="34" charset="-120"/>
              </a:rPr>
              <a:t>AI-generated ICP + buyer personas from a one-line idea.</a:t>
            </a:r>
            <a:endParaRPr lang="en-US" sz="1200" dirty="0"/>
          </a:p>
        </p:txBody>
      </p:sp>
      <p:sp>
        <p:nvSpPr>
          <p:cNvPr id="17" name="Shape 14"/>
          <p:cNvSpPr/>
          <p:nvPr/>
        </p:nvSpPr>
        <p:spPr>
          <a:xfrm>
            <a:off x="3794760" y="2148840"/>
            <a:ext cx="3017520" cy="1691640"/>
          </a:xfrm>
          <a:prstGeom prst="roundRect">
            <a:avLst>
              <a:gd name="adj" fmla="val 7568"/>
            </a:avLst>
          </a:prstGeom>
          <a:solidFill>
            <a:srgbClr val="10173D">
              <a:alpha val="88000"/>
            </a:srgbClr>
          </a:solidFill>
          <a:ln w="19050">
            <a:solidFill>
              <a:srgbClr val="FF00FF"/>
            </a:solidFill>
            <a:prstDash val="solid"/>
          </a:ln>
          <a:effectLst>
            <a:outerShdw sx="100000" sy="100000" kx="0" ky="0" algn="bl" rotWithShape="0" blurRad="203200" dist="50800" dir="16200000">
              <a:srgbClr val="FF00FF">
                <a:alpha val="45000"/>
              </a:srgbClr>
            </a:outerShdw>
          </a:effectLst>
        </p:spPr>
      </p:sp>
      <p:pic>
        <p:nvPicPr>
          <p:cNvPr id="18" name="Image 1" descr="icon_bullhorn.png">    </p:cNvPr>
          <p:cNvPicPr>
            <a:picLocks noChangeAspect="1"/>
          </p:cNvPicPr>
          <p:nvPr/>
        </p:nvPicPr>
        <p:blipFill>
          <a:blip r:embed="rId3"/>
          <a:stretch>
            <a:fillRect/>
          </a:stretch>
        </p:blipFill>
        <p:spPr>
          <a:xfrm>
            <a:off x="3977640" y="2350008"/>
            <a:ext cx="731520" cy="731520"/>
          </a:xfrm>
          <a:prstGeom prst="rect">
            <a:avLst/>
          </a:prstGeom>
        </p:spPr>
      </p:pic>
      <p:sp>
        <p:nvSpPr>
          <p:cNvPr id="19" name="Text 15"/>
          <p:cNvSpPr/>
          <p:nvPr/>
        </p:nvSpPr>
        <p:spPr>
          <a:xfrm>
            <a:off x="4754880" y="2459736"/>
            <a:ext cx="1920240" cy="457200"/>
          </a:xfrm>
          <a:prstGeom prst="rect">
            <a:avLst/>
          </a:prstGeom>
          <a:noFill/>
          <a:ln/>
        </p:spPr>
        <p:txBody>
          <a:bodyPr wrap="square" rtlCol="0" anchor="ctr"/>
          <a:lstStyle/>
          <a:p>
            <a:pPr indent="0" marL="0">
              <a:buNone/>
            </a:pPr>
            <a:r>
              <a:rPr lang="en-US" sz="1700" b="1" dirty="0">
                <a:solidFill>
                  <a:srgbClr val="FF00FF"/>
                </a:solidFill>
                <a:effectLst>
                  <a:glow rad="76200">
                    <a:srgbClr val="FF00FF">
                      <a:alpha val="40000"/>
                    </a:srgbClr>
                  </a:glow>
                </a:effectLst>
                <a:latin typeface="Montserrat" pitchFamily="34" charset="0"/>
                <a:ea typeface="Montserrat" pitchFamily="34" charset="-122"/>
                <a:cs typeface="Montserrat" pitchFamily="34" charset="-120"/>
              </a:rPr>
              <a:t>Channels</a:t>
            </a:r>
            <a:endParaRPr lang="en-US" sz="1700" dirty="0"/>
          </a:p>
        </p:txBody>
      </p:sp>
      <p:sp>
        <p:nvSpPr>
          <p:cNvPr id="20" name="Text 16"/>
          <p:cNvSpPr/>
          <p:nvPr/>
        </p:nvSpPr>
        <p:spPr>
          <a:xfrm>
            <a:off x="3995928" y="3081528"/>
            <a:ext cx="2697480" cy="658368"/>
          </a:xfrm>
          <a:prstGeom prst="rect">
            <a:avLst/>
          </a:prstGeom>
          <a:noFill/>
          <a:ln/>
        </p:spPr>
        <p:txBody>
          <a:bodyPr wrap="square" rtlCol="0" anchor="ctr"/>
          <a:lstStyle/>
          <a:p>
            <a:pPr indent="0" marL="0">
              <a:lnSpc>
                <a:spcPct val="105000"/>
              </a:lnSpc>
              <a:buNone/>
            </a:pPr>
            <a:r>
              <a:rPr lang="en-US" sz="1200" dirty="0">
                <a:solidFill>
                  <a:srgbClr val="9AA6D6"/>
                </a:solidFill>
                <a:latin typeface="Arial" pitchFamily="34" charset="0"/>
                <a:ea typeface="Arial" pitchFamily="34" charset="-122"/>
                <a:cs typeface="Arial" pitchFamily="34" charset="-120"/>
              </a:rPr>
              <a:t>Ranked acquisition channels with fit scores per segment.</a:t>
            </a:r>
            <a:endParaRPr lang="en-US" sz="1200" dirty="0"/>
          </a:p>
        </p:txBody>
      </p:sp>
      <p:sp>
        <p:nvSpPr>
          <p:cNvPr id="21" name="Shape 17"/>
          <p:cNvSpPr/>
          <p:nvPr/>
        </p:nvSpPr>
        <p:spPr>
          <a:xfrm>
            <a:off x="640080" y="3977640"/>
            <a:ext cx="3017520" cy="1691640"/>
          </a:xfrm>
          <a:prstGeom prst="roundRect">
            <a:avLst>
              <a:gd name="adj" fmla="val 7568"/>
            </a:avLst>
          </a:prstGeom>
          <a:solidFill>
            <a:srgbClr val="10173D">
              <a:alpha val="88000"/>
            </a:srgbClr>
          </a:solidFill>
          <a:ln w="19050">
            <a:solidFill>
              <a:srgbClr val="00FF00"/>
            </a:solidFill>
            <a:prstDash val="solid"/>
          </a:ln>
          <a:effectLst>
            <a:outerShdw sx="100000" sy="100000" kx="0" ky="0" algn="bl" rotWithShape="0" blurRad="203200" dist="50800" dir="16200000">
              <a:srgbClr val="00FF00">
                <a:alpha val="45000"/>
              </a:srgbClr>
            </a:outerShdw>
          </a:effectLst>
        </p:spPr>
      </p:sp>
      <p:pic>
        <p:nvPicPr>
          <p:cNvPr id="22" name="Image 2" descr="icon_wallet.png">    </p:cNvPr>
          <p:cNvPicPr>
            <a:picLocks noChangeAspect="1"/>
          </p:cNvPicPr>
          <p:nvPr/>
        </p:nvPicPr>
        <p:blipFill>
          <a:blip r:embed="rId4"/>
          <a:stretch>
            <a:fillRect/>
          </a:stretch>
        </p:blipFill>
        <p:spPr>
          <a:xfrm>
            <a:off x="822960" y="4178808"/>
            <a:ext cx="731520" cy="731520"/>
          </a:xfrm>
          <a:prstGeom prst="rect">
            <a:avLst/>
          </a:prstGeom>
        </p:spPr>
      </p:pic>
      <p:sp>
        <p:nvSpPr>
          <p:cNvPr id="23" name="Text 18"/>
          <p:cNvSpPr/>
          <p:nvPr/>
        </p:nvSpPr>
        <p:spPr>
          <a:xfrm>
            <a:off x="1600200" y="4288536"/>
            <a:ext cx="1920240" cy="457200"/>
          </a:xfrm>
          <a:prstGeom prst="rect">
            <a:avLst/>
          </a:prstGeom>
          <a:noFill/>
          <a:ln/>
        </p:spPr>
        <p:txBody>
          <a:bodyPr wrap="square" rtlCol="0" anchor="ctr"/>
          <a:lstStyle/>
          <a:p>
            <a:pPr indent="0" marL="0">
              <a:buNone/>
            </a:pPr>
            <a:r>
              <a:rPr lang="en-US" sz="1700" b="1" dirty="0">
                <a:solidFill>
                  <a:srgbClr val="00FF00"/>
                </a:solidFill>
                <a:effectLst>
                  <a:glow rad="76200">
                    <a:srgbClr val="00FF00">
                      <a:alpha val="40000"/>
                    </a:srgbClr>
                  </a:glow>
                </a:effectLst>
                <a:latin typeface="Montserrat" pitchFamily="34" charset="0"/>
                <a:ea typeface="Montserrat" pitchFamily="34" charset="-122"/>
                <a:cs typeface="Montserrat" pitchFamily="34" charset="-120"/>
              </a:rPr>
              <a:t>Budget</a:t>
            </a:r>
            <a:endParaRPr lang="en-US" sz="1700" dirty="0"/>
          </a:p>
        </p:txBody>
      </p:sp>
      <p:sp>
        <p:nvSpPr>
          <p:cNvPr id="24" name="Text 19"/>
          <p:cNvSpPr/>
          <p:nvPr/>
        </p:nvSpPr>
        <p:spPr>
          <a:xfrm>
            <a:off x="841248" y="4910328"/>
            <a:ext cx="2697480" cy="658368"/>
          </a:xfrm>
          <a:prstGeom prst="rect">
            <a:avLst/>
          </a:prstGeom>
          <a:noFill/>
          <a:ln/>
        </p:spPr>
        <p:txBody>
          <a:bodyPr wrap="square" rtlCol="0" anchor="ctr"/>
          <a:lstStyle/>
          <a:p>
            <a:pPr indent="0" marL="0">
              <a:lnSpc>
                <a:spcPct val="105000"/>
              </a:lnSpc>
              <a:buNone/>
            </a:pPr>
            <a:r>
              <a:rPr lang="en-US" sz="1200" dirty="0">
                <a:solidFill>
                  <a:srgbClr val="9AA6D6"/>
                </a:solidFill>
                <a:latin typeface="Arial" pitchFamily="34" charset="0"/>
                <a:ea typeface="Arial" pitchFamily="34" charset="-122"/>
                <a:cs typeface="Arial" pitchFamily="34" charset="-120"/>
              </a:rPr>
              <a:t>Allocates spend and projects CAC payback automatically.</a:t>
            </a:r>
            <a:endParaRPr lang="en-US" sz="1200" dirty="0"/>
          </a:p>
        </p:txBody>
      </p:sp>
      <p:sp>
        <p:nvSpPr>
          <p:cNvPr id="25" name="Shape 20"/>
          <p:cNvSpPr/>
          <p:nvPr/>
        </p:nvSpPr>
        <p:spPr>
          <a:xfrm>
            <a:off x="3794760" y="3977640"/>
            <a:ext cx="3017520" cy="1691640"/>
          </a:xfrm>
          <a:prstGeom prst="roundRect">
            <a:avLst>
              <a:gd name="adj" fmla="val 7568"/>
            </a:avLst>
          </a:prstGeom>
          <a:solidFill>
            <a:srgbClr val="10173D">
              <a:alpha val="88000"/>
            </a:srgbClr>
          </a:solidFill>
          <a:ln w="19050">
            <a:solidFill>
              <a:srgbClr val="00F0FF"/>
            </a:solidFill>
            <a:prstDash val="solid"/>
          </a:ln>
          <a:effectLst>
            <a:outerShdw sx="100000" sy="100000" kx="0" ky="0" algn="bl" rotWithShape="0" blurRad="203200" dist="50800" dir="16200000">
              <a:srgbClr val="00F0FF">
                <a:alpha val="45000"/>
              </a:srgbClr>
            </a:outerShdw>
          </a:effectLst>
        </p:spPr>
      </p:sp>
      <p:pic>
        <p:nvPicPr>
          <p:cNvPr id="26" name="Image 3" descr="icon_chartline.png">    </p:cNvPr>
          <p:cNvPicPr>
            <a:picLocks noChangeAspect="1"/>
          </p:cNvPicPr>
          <p:nvPr/>
        </p:nvPicPr>
        <p:blipFill>
          <a:blip r:embed="rId5"/>
          <a:stretch>
            <a:fillRect/>
          </a:stretch>
        </p:blipFill>
        <p:spPr>
          <a:xfrm>
            <a:off x="3977640" y="4178808"/>
            <a:ext cx="731520" cy="731520"/>
          </a:xfrm>
          <a:prstGeom prst="rect">
            <a:avLst/>
          </a:prstGeom>
        </p:spPr>
      </p:pic>
      <p:sp>
        <p:nvSpPr>
          <p:cNvPr id="27" name="Text 21"/>
          <p:cNvSpPr/>
          <p:nvPr/>
        </p:nvSpPr>
        <p:spPr>
          <a:xfrm>
            <a:off x="4754880" y="4288536"/>
            <a:ext cx="1920240" cy="457200"/>
          </a:xfrm>
          <a:prstGeom prst="rect">
            <a:avLst/>
          </a:prstGeom>
          <a:noFill/>
          <a:ln/>
        </p:spPr>
        <p:txBody>
          <a:bodyPr wrap="square" rtlCol="0" anchor="ctr"/>
          <a:lstStyle/>
          <a:p>
            <a:pPr indent="0" marL="0">
              <a:buNone/>
            </a:pPr>
            <a:r>
              <a:rPr lang="en-US" sz="1700" b="1"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KPIs</a:t>
            </a:r>
            <a:endParaRPr lang="en-US" sz="1700" dirty="0"/>
          </a:p>
        </p:txBody>
      </p:sp>
      <p:sp>
        <p:nvSpPr>
          <p:cNvPr id="28" name="Text 22"/>
          <p:cNvSpPr/>
          <p:nvPr/>
        </p:nvSpPr>
        <p:spPr>
          <a:xfrm>
            <a:off x="3995928" y="4910328"/>
            <a:ext cx="2697480" cy="658368"/>
          </a:xfrm>
          <a:prstGeom prst="rect">
            <a:avLst/>
          </a:prstGeom>
          <a:noFill/>
          <a:ln/>
        </p:spPr>
        <p:txBody>
          <a:bodyPr wrap="square" rtlCol="0" anchor="ctr"/>
          <a:lstStyle/>
          <a:p>
            <a:pPr indent="0" marL="0">
              <a:lnSpc>
                <a:spcPct val="105000"/>
              </a:lnSpc>
              <a:buNone/>
            </a:pPr>
            <a:r>
              <a:rPr lang="en-US" sz="1200" dirty="0">
                <a:solidFill>
                  <a:srgbClr val="9AA6D6"/>
                </a:solidFill>
                <a:latin typeface="Arial" pitchFamily="34" charset="0"/>
                <a:ea typeface="Arial" pitchFamily="34" charset="-122"/>
                <a:cs typeface="Arial" pitchFamily="34" charset="-120"/>
              </a:rPr>
              <a:t>Sets targets and simulates funnel outcomes before you spend.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00FF00"/>
                </a:solidFill>
                <a:effectLst>
                  <a:glow rad="101600">
                    <a:srgbClr val="00FF00">
                      <a:alpha val="50000"/>
                    </a:srgbClr>
                  </a:glow>
                </a:effectLst>
                <a:latin typeface="Montserrat" pitchFamily="34" charset="0"/>
                <a:ea typeface="Montserrat" pitchFamily="34" charset="-122"/>
                <a:cs typeface="Montserrat" pitchFamily="34" charset="-120"/>
              </a:rPr>
              <a:t>HOW IT WORKS</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00FF00">
                      <a:alpha val="45000"/>
                    </a:srgbClr>
                  </a:glow>
                </a:effectLst>
                <a:latin typeface="Montserrat" pitchFamily="34" charset="0"/>
                <a:ea typeface="Montserrat" pitchFamily="34" charset="-122"/>
                <a:cs typeface="Montserrat" pitchFamily="34" charset="-120"/>
              </a:rPr>
              <a:t>Built for Speed, Accuracy &amp; Impact.</a:t>
            </a:r>
            <a:endParaRPr lang="en-US" sz="3300" dirty="0"/>
          </a:p>
        </p:txBody>
      </p:sp>
      <p:sp>
        <p:nvSpPr>
          <p:cNvPr id="4" name="Shape 2"/>
          <p:cNvSpPr/>
          <p:nvPr/>
        </p:nvSpPr>
        <p:spPr>
          <a:xfrm>
            <a:off x="641452" y="2971800"/>
            <a:ext cx="1874520" cy="1737360"/>
          </a:xfrm>
          <a:prstGeom prst="roundRect">
            <a:avLst>
              <a:gd name="adj" fmla="val 7368"/>
            </a:avLst>
          </a:prstGeom>
          <a:solidFill>
            <a:srgbClr val="10173D">
              <a:alpha val="88000"/>
            </a:srgbClr>
          </a:solidFill>
          <a:ln w="19050">
            <a:solidFill>
              <a:srgbClr val="00F0FF"/>
            </a:solidFill>
            <a:prstDash val="solid"/>
          </a:ln>
          <a:effectLst>
            <a:outerShdw sx="100000" sy="100000" kx="0" ky="0" algn="bl" rotWithShape="0" blurRad="228600" dist="50800" dir="16200000">
              <a:srgbClr val="00F0FF">
                <a:alpha val="50000"/>
              </a:srgbClr>
            </a:outerShdw>
          </a:effectLst>
        </p:spPr>
      </p:sp>
      <p:sp>
        <p:nvSpPr>
          <p:cNvPr id="5" name="Text 3"/>
          <p:cNvSpPr/>
          <p:nvPr/>
        </p:nvSpPr>
        <p:spPr>
          <a:xfrm>
            <a:off x="769468" y="3081528"/>
            <a:ext cx="502920" cy="457200"/>
          </a:xfrm>
          <a:prstGeom prst="rect">
            <a:avLst/>
          </a:prstGeom>
          <a:noFill/>
          <a:ln/>
        </p:spPr>
        <p:txBody>
          <a:bodyPr wrap="square" rtlCol="0" anchor="ctr"/>
          <a:lstStyle/>
          <a:p>
            <a:pPr indent="0" marL="0">
              <a:buNone/>
            </a:pPr>
            <a:r>
              <a:rPr lang="en-US" sz="1800" b="1" dirty="0">
                <a:solidFill>
                  <a:srgbClr val="00F0FF"/>
                </a:solidFill>
                <a:effectLst>
                  <a:glow rad="76200">
                    <a:srgbClr val="00F0FF">
                      <a:alpha val="50000"/>
                    </a:srgbClr>
                  </a:glow>
                </a:effectLst>
                <a:latin typeface="Montserrat" pitchFamily="34" charset="0"/>
                <a:ea typeface="Montserrat" pitchFamily="34" charset="-122"/>
                <a:cs typeface="Montserrat" pitchFamily="34" charset="-120"/>
              </a:rPr>
              <a:t>1</a:t>
            </a:r>
            <a:endParaRPr lang="en-US" sz="1800" dirty="0"/>
          </a:p>
        </p:txBody>
      </p:sp>
      <p:sp>
        <p:nvSpPr>
          <p:cNvPr id="6" name="Text 4"/>
          <p:cNvSpPr/>
          <p:nvPr/>
        </p:nvSpPr>
        <p:spPr>
          <a:xfrm>
            <a:off x="732892" y="3575304"/>
            <a:ext cx="1691640" cy="457200"/>
          </a:xfrm>
          <a:prstGeom prst="rect">
            <a:avLst/>
          </a:prstGeom>
          <a:noFill/>
          <a:ln/>
        </p:spPr>
        <p:txBody>
          <a:bodyPr wrap="square" rtlCol="0" anchor="ctr"/>
          <a:lstStyle/>
          <a:p>
            <a:pPr algn="ctr" indent="0" marL="0">
              <a:buNone/>
            </a:pPr>
            <a:r>
              <a:rPr lang="en-US" sz="1700" b="1" dirty="0">
                <a:solidFill>
                  <a:srgbClr val="FFFFFF"/>
                </a:solidFill>
                <a:effectLst>
                  <a:glow rad="76200">
                    <a:srgbClr val="00F0FF">
                      <a:alpha val="40000"/>
                    </a:srgbClr>
                  </a:glow>
                </a:effectLst>
                <a:latin typeface="Montserrat" pitchFamily="34" charset="0"/>
                <a:ea typeface="Montserrat" pitchFamily="34" charset="-122"/>
                <a:cs typeface="Montserrat" pitchFamily="34" charset="-120"/>
              </a:rPr>
              <a:t>Input</a:t>
            </a:r>
            <a:endParaRPr lang="en-US" sz="1700" dirty="0"/>
          </a:p>
        </p:txBody>
      </p:sp>
      <p:sp>
        <p:nvSpPr>
          <p:cNvPr id="7" name="Text 5"/>
          <p:cNvSpPr/>
          <p:nvPr/>
        </p:nvSpPr>
        <p:spPr>
          <a:xfrm>
            <a:off x="732892" y="4032504"/>
            <a:ext cx="1691640" cy="54864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Your idea + market</a:t>
            </a:r>
            <a:endParaRPr lang="en-US" sz="1150" dirty="0"/>
          </a:p>
        </p:txBody>
      </p:sp>
      <p:sp>
        <p:nvSpPr>
          <p:cNvPr id="8" name="Shape 6"/>
          <p:cNvSpPr/>
          <p:nvPr/>
        </p:nvSpPr>
        <p:spPr>
          <a:xfrm>
            <a:off x="2534260" y="3630168"/>
            <a:ext cx="365760" cy="402336"/>
          </a:xfrm>
          <a:prstGeom prst="chevron">
            <a:avLst/>
          </a:prstGeom>
          <a:solidFill>
            <a:srgbClr val="00F0FF"/>
          </a:solidFill>
          <a:ln/>
          <a:effectLst>
            <a:outerShdw sx="100000" sy="100000" kx="0" ky="0" algn="bl" rotWithShape="0" blurRad="127000" dist="50800" dir="16200000">
              <a:srgbClr val="00F0FF">
                <a:alpha val="70000"/>
              </a:srgbClr>
            </a:outerShdw>
          </a:effectLst>
        </p:spPr>
      </p:sp>
      <p:sp>
        <p:nvSpPr>
          <p:cNvPr id="9" name="Shape 7"/>
          <p:cNvSpPr/>
          <p:nvPr/>
        </p:nvSpPr>
        <p:spPr>
          <a:xfrm>
            <a:off x="2900020" y="2971800"/>
            <a:ext cx="1874520" cy="1737360"/>
          </a:xfrm>
          <a:prstGeom prst="roundRect">
            <a:avLst>
              <a:gd name="adj" fmla="val 7368"/>
            </a:avLst>
          </a:prstGeom>
          <a:solidFill>
            <a:srgbClr val="10173D">
              <a:alpha val="88000"/>
            </a:srgbClr>
          </a:solidFill>
          <a:ln w="19050">
            <a:solidFill>
              <a:srgbClr val="FF00FF"/>
            </a:solidFill>
            <a:prstDash val="solid"/>
          </a:ln>
          <a:effectLst>
            <a:outerShdw sx="100000" sy="100000" kx="0" ky="0" algn="bl" rotWithShape="0" blurRad="228600" dist="50800" dir="16200000">
              <a:srgbClr val="FF00FF">
                <a:alpha val="50000"/>
              </a:srgbClr>
            </a:outerShdw>
          </a:effectLst>
        </p:spPr>
      </p:sp>
      <p:sp>
        <p:nvSpPr>
          <p:cNvPr id="10" name="Text 8"/>
          <p:cNvSpPr/>
          <p:nvPr/>
        </p:nvSpPr>
        <p:spPr>
          <a:xfrm>
            <a:off x="3028036" y="3081528"/>
            <a:ext cx="502920" cy="457200"/>
          </a:xfrm>
          <a:prstGeom prst="rect">
            <a:avLst/>
          </a:prstGeom>
          <a:noFill/>
          <a:ln/>
        </p:spPr>
        <p:txBody>
          <a:bodyPr wrap="square" rtlCol="0" anchor="ctr"/>
          <a:lstStyle/>
          <a:p>
            <a:pPr indent="0" marL="0">
              <a:buNone/>
            </a:pPr>
            <a:r>
              <a:rPr lang="en-US" sz="1800" b="1" dirty="0">
                <a:solidFill>
                  <a:srgbClr val="FF00FF"/>
                </a:solidFill>
                <a:effectLst>
                  <a:glow rad="76200">
                    <a:srgbClr val="FF00FF">
                      <a:alpha val="50000"/>
                    </a:srgbClr>
                  </a:glow>
                </a:effectLst>
                <a:latin typeface="Montserrat" pitchFamily="34" charset="0"/>
                <a:ea typeface="Montserrat" pitchFamily="34" charset="-122"/>
                <a:cs typeface="Montserrat" pitchFamily="34" charset="-120"/>
              </a:rPr>
              <a:t>2</a:t>
            </a:r>
            <a:endParaRPr lang="en-US" sz="1800" dirty="0"/>
          </a:p>
        </p:txBody>
      </p:sp>
      <p:sp>
        <p:nvSpPr>
          <p:cNvPr id="11" name="Text 9"/>
          <p:cNvSpPr/>
          <p:nvPr/>
        </p:nvSpPr>
        <p:spPr>
          <a:xfrm>
            <a:off x="2991460" y="3575304"/>
            <a:ext cx="1691640" cy="457200"/>
          </a:xfrm>
          <a:prstGeom prst="rect">
            <a:avLst/>
          </a:prstGeom>
          <a:noFill/>
          <a:ln/>
        </p:spPr>
        <p:txBody>
          <a:bodyPr wrap="square" rtlCol="0" anchor="ctr"/>
          <a:lstStyle/>
          <a:p>
            <a:pPr algn="ctr" indent="0" marL="0">
              <a:buNone/>
            </a:pPr>
            <a:r>
              <a:rPr lang="en-US" sz="1700" b="1" dirty="0">
                <a:solidFill>
                  <a:srgbClr val="FFFFFF"/>
                </a:solidFill>
                <a:effectLst>
                  <a:glow rad="76200">
                    <a:srgbClr val="FF00FF">
                      <a:alpha val="40000"/>
                    </a:srgbClr>
                  </a:glow>
                </a:effectLst>
                <a:latin typeface="Montserrat" pitchFamily="34" charset="0"/>
                <a:ea typeface="Montserrat" pitchFamily="34" charset="-122"/>
                <a:cs typeface="Montserrat" pitchFamily="34" charset="-120"/>
              </a:rPr>
              <a:t>AI Engine</a:t>
            </a:r>
            <a:endParaRPr lang="en-US" sz="1700" dirty="0"/>
          </a:p>
        </p:txBody>
      </p:sp>
      <p:sp>
        <p:nvSpPr>
          <p:cNvPr id="12" name="Text 10"/>
          <p:cNvSpPr/>
          <p:nvPr/>
        </p:nvSpPr>
        <p:spPr>
          <a:xfrm>
            <a:off x="2991460" y="4032504"/>
            <a:ext cx="1691640" cy="54864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LLM + GTM models</a:t>
            </a:r>
            <a:endParaRPr lang="en-US" sz="1150" dirty="0"/>
          </a:p>
        </p:txBody>
      </p:sp>
      <p:sp>
        <p:nvSpPr>
          <p:cNvPr id="13" name="Shape 11"/>
          <p:cNvSpPr/>
          <p:nvPr/>
        </p:nvSpPr>
        <p:spPr>
          <a:xfrm>
            <a:off x="4792828" y="3630168"/>
            <a:ext cx="365760" cy="402336"/>
          </a:xfrm>
          <a:prstGeom prst="chevron">
            <a:avLst/>
          </a:prstGeom>
          <a:solidFill>
            <a:srgbClr val="FF00FF"/>
          </a:solidFill>
          <a:ln/>
          <a:effectLst>
            <a:outerShdw sx="100000" sy="100000" kx="0" ky="0" algn="bl" rotWithShape="0" blurRad="127000" dist="50800" dir="16200000">
              <a:srgbClr val="FF00FF">
                <a:alpha val="70000"/>
              </a:srgbClr>
            </a:outerShdw>
          </a:effectLst>
        </p:spPr>
      </p:sp>
      <p:sp>
        <p:nvSpPr>
          <p:cNvPr id="14" name="Shape 12"/>
          <p:cNvSpPr/>
          <p:nvPr/>
        </p:nvSpPr>
        <p:spPr>
          <a:xfrm>
            <a:off x="5158588" y="2971800"/>
            <a:ext cx="1874520" cy="1737360"/>
          </a:xfrm>
          <a:prstGeom prst="roundRect">
            <a:avLst>
              <a:gd name="adj" fmla="val 7368"/>
            </a:avLst>
          </a:prstGeom>
          <a:solidFill>
            <a:srgbClr val="10173D">
              <a:alpha val="88000"/>
            </a:srgbClr>
          </a:solidFill>
          <a:ln w="19050">
            <a:solidFill>
              <a:srgbClr val="00FF00"/>
            </a:solidFill>
            <a:prstDash val="solid"/>
          </a:ln>
          <a:effectLst>
            <a:outerShdw sx="100000" sy="100000" kx="0" ky="0" algn="bl" rotWithShape="0" blurRad="228600" dist="50800" dir="16200000">
              <a:srgbClr val="00FF00">
                <a:alpha val="50000"/>
              </a:srgbClr>
            </a:outerShdw>
          </a:effectLst>
        </p:spPr>
      </p:sp>
      <p:sp>
        <p:nvSpPr>
          <p:cNvPr id="15" name="Text 13"/>
          <p:cNvSpPr/>
          <p:nvPr/>
        </p:nvSpPr>
        <p:spPr>
          <a:xfrm>
            <a:off x="5286604" y="3081528"/>
            <a:ext cx="502920" cy="457200"/>
          </a:xfrm>
          <a:prstGeom prst="rect">
            <a:avLst/>
          </a:prstGeom>
          <a:noFill/>
          <a:ln/>
        </p:spPr>
        <p:txBody>
          <a:bodyPr wrap="square" rtlCol="0" anchor="ctr"/>
          <a:lstStyle/>
          <a:p>
            <a:pPr indent="0" marL="0">
              <a:buNone/>
            </a:pPr>
            <a:r>
              <a:rPr lang="en-US" sz="1800" b="1" dirty="0">
                <a:solidFill>
                  <a:srgbClr val="00FF00"/>
                </a:solidFill>
                <a:effectLst>
                  <a:glow rad="76200">
                    <a:srgbClr val="00FF00">
                      <a:alpha val="50000"/>
                    </a:srgbClr>
                  </a:glow>
                </a:effectLst>
                <a:latin typeface="Montserrat" pitchFamily="34" charset="0"/>
                <a:ea typeface="Montserrat" pitchFamily="34" charset="-122"/>
                <a:cs typeface="Montserrat" pitchFamily="34" charset="-120"/>
              </a:rPr>
              <a:t>3</a:t>
            </a:r>
            <a:endParaRPr lang="en-US" sz="1800" dirty="0"/>
          </a:p>
        </p:txBody>
      </p:sp>
      <p:sp>
        <p:nvSpPr>
          <p:cNvPr id="16" name="Text 14"/>
          <p:cNvSpPr/>
          <p:nvPr/>
        </p:nvSpPr>
        <p:spPr>
          <a:xfrm>
            <a:off x="5250028" y="3575304"/>
            <a:ext cx="1691640" cy="457200"/>
          </a:xfrm>
          <a:prstGeom prst="rect">
            <a:avLst/>
          </a:prstGeom>
          <a:noFill/>
          <a:ln/>
        </p:spPr>
        <p:txBody>
          <a:bodyPr wrap="square" rtlCol="0" anchor="ctr"/>
          <a:lstStyle/>
          <a:p>
            <a:pPr algn="ctr" indent="0" marL="0">
              <a:buNone/>
            </a:pPr>
            <a:r>
              <a:rPr lang="en-US" sz="1700" b="1" dirty="0">
                <a:solidFill>
                  <a:srgbClr val="FFFFFF"/>
                </a:solidFill>
                <a:effectLst>
                  <a:glow rad="76200">
                    <a:srgbClr val="00FF00">
                      <a:alpha val="40000"/>
                    </a:srgbClr>
                  </a:glow>
                </a:effectLst>
                <a:latin typeface="Montserrat" pitchFamily="34" charset="0"/>
                <a:ea typeface="Montserrat" pitchFamily="34" charset="-122"/>
                <a:cs typeface="Montserrat" pitchFamily="34" charset="-120"/>
              </a:rPr>
              <a:t>GTM Plan</a:t>
            </a:r>
            <a:endParaRPr lang="en-US" sz="1700" dirty="0"/>
          </a:p>
        </p:txBody>
      </p:sp>
      <p:sp>
        <p:nvSpPr>
          <p:cNvPr id="17" name="Text 15"/>
          <p:cNvSpPr/>
          <p:nvPr/>
        </p:nvSpPr>
        <p:spPr>
          <a:xfrm>
            <a:off x="5250028" y="4032504"/>
            <a:ext cx="1691640" cy="54864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Personas → KPIs</a:t>
            </a:r>
            <a:endParaRPr lang="en-US" sz="1150" dirty="0"/>
          </a:p>
        </p:txBody>
      </p:sp>
      <p:sp>
        <p:nvSpPr>
          <p:cNvPr id="18" name="Shape 16"/>
          <p:cNvSpPr/>
          <p:nvPr/>
        </p:nvSpPr>
        <p:spPr>
          <a:xfrm>
            <a:off x="7051396" y="3630168"/>
            <a:ext cx="365760" cy="402336"/>
          </a:xfrm>
          <a:prstGeom prst="chevron">
            <a:avLst/>
          </a:prstGeom>
          <a:solidFill>
            <a:srgbClr val="00FF00"/>
          </a:solidFill>
          <a:ln/>
          <a:effectLst>
            <a:outerShdw sx="100000" sy="100000" kx="0" ky="0" algn="bl" rotWithShape="0" blurRad="127000" dist="50800" dir="16200000">
              <a:srgbClr val="00FF00">
                <a:alpha val="70000"/>
              </a:srgbClr>
            </a:outerShdw>
          </a:effectLst>
        </p:spPr>
      </p:sp>
      <p:sp>
        <p:nvSpPr>
          <p:cNvPr id="19" name="Shape 17"/>
          <p:cNvSpPr/>
          <p:nvPr/>
        </p:nvSpPr>
        <p:spPr>
          <a:xfrm>
            <a:off x="7417156" y="2971800"/>
            <a:ext cx="1874520" cy="1737360"/>
          </a:xfrm>
          <a:prstGeom prst="roundRect">
            <a:avLst>
              <a:gd name="adj" fmla="val 7368"/>
            </a:avLst>
          </a:prstGeom>
          <a:solidFill>
            <a:srgbClr val="10173D">
              <a:alpha val="88000"/>
            </a:srgbClr>
          </a:solidFill>
          <a:ln w="19050">
            <a:solidFill>
              <a:srgbClr val="00F0FF"/>
            </a:solidFill>
            <a:prstDash val="solid"/>
          </a:ln>
          <a:effectLst>
            <a:outerShdw sx="100000" sy="100000" kx="0" ky="0" algn="bl" rotWithShape="0" blurRad="228600" dist="50800" dir="16200000">
              <a:srgbClr val="00F0FF">
                <a:alpha val="50000"/>
              </a:srgbClr>
            </a:outerShdw>
          </a:effectLst>
        </p:spPr>
      </p:sp>
      <p:sp>
        <p:nvSpPr>
          <p:cNvPr id="20" name="Text 18"/>
          <p:cNvSpPr/>
          <p:nvPr/>
        </p:nvSpPr>
        <p:spPr>
          <a:xfrm>
            <a:off x="7545172" y="3081528"/>
            <a:ext cx="502920" cy="457200"/>
          </a:xfrm>
          <a:prstGeom prst="rect">
            <a:avLst/>
          </a:prstGeom>
          <a:noFill/>
          <a:ln/>
        </p:spPr>
        <p:txBody>
          <a:bodyPr wrap="square" rtlCol="0" anchor="ctr"/>
          <a:lstStyle/>
          <a:p>
            <a:pPr indent="0" marL="0">
              <a:buNone/>
            </a:pPr>
            <a:r>
              <a:rPr lang="en-US" sz="1800" b="1" dirty="0">
                <a:solidFill>
                  <a:srgbClr val="00F0FF"/>
                </a:solidFill>
                <a:effectLst>
                  <a:glow rad="76200">
                    <a:srgbClr val="00F0FF">
                      <a:alpha val="50000"/>
                    </a:srgbClr>
                  </a:glow>
                </a:effectLst>
                <a:latin typeface="Montserrat" pitchFamily="34" charset="0"/>
                <a:ea typeface="Montserrat" pitchFamily="34" charset="-122"/>
                <a:cs typeface="Montserrat" pitchFamily="34" charset="-120"/>
              </a:rPr>
              <a:t>4</a:t>
            </a:r>
            <a:endParaRPr lang="en-US" sz="1800" dirty="0"/>
          </a:p>
        </p:txBody>
      </p:sp>
      <p:sp>
        <p:nvSpPr>
          <p:cNvPr id="21" name="Text 19"/>
          <p:cNvSpPr/>
          <p:nvPr/>
        </p:nvSpPr>
        <p:spPr>
          <a:xfrm>
            <a:off x="7508596" y="3575304"/>
            <a:ext cx="1691640" cy="457200"/>
          </a:xfrm>
          <a:prstGeom prst="rect">
            <a:avLst/>
          </a:prstGeom>
          <a:noFill/>
          <a:ln/>
        </p:spPr>
        <p:txBody>
          <a:bodyPr wrap="square" rtlCol="0" anchor="ctr"/>
          <a:lstStyle/>
          <a:p>
            <a:pPr algn="ctr" indent="0" marL="0">
              <a:buNone/>
            </a:pPr>
            <a:r>
              <a:rPr lang="en-US" sz="1700" b="1" dirty="0">
                <a:solidFill>
                  <a:srgbClr val="FFFFFF"/>
                </a:solidFill>
                <a:effectLst>
                  <a:glow rad="76200">
                    <a:srgbClr val="00F0FF">
                      <a:alpha val="40000"/>
                    </a:srgbClr>
                  </a:glow>
                </a:effectLst>
                <a:latin typeface="Montserrat" pitchFamily="34" charset="0"/>
                <a:ea typeface="Montserrat" pitchFamily="34" charset="-122"/>
                <a:cs typeface="Montserrat" pitchFamily="34" charset="-120"/>
              </a:rPr>
              <a:t>Simulate</a:t>
            </a:r>
            <a:endParaRPr lang="en-US" sz="1700" dirty="0"/>
          </a:p>
        </p:txBody>
      </p:sp>
      <p:sp>
        <p:nvSpPr>
          <p:cNvPr id="22" name="Text 20"/>
          <p:cNvSpPr/>
          <p:nvPr/>
        </p:nvSpPr>
        <p:spPr>
          <a:xfrm>
            <a:off x="7508596" y="4032504"/>
            <a:ext cx="1691640" cy="54864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Test the funnel</a:t>
            </a:r>
            <a:endParaRPr lang="en-US" sz="1150" dirty="0"/>
          </a:p>
        </p:txBody>
      </p:sp>
      <p:sp>
        <p:nvSpPr>
          <p:cNvPr id="23" name="Shape 21"/>
          <p:cNvSpPr/>
          <p:nvPr/>
        </p:nvSpPr>
        <p:spPr>
          <a:xfrm>
            <a:off x="9309964" y="3630168"/>
            <a:ext cx="365760" cy="402336"/>
          </a:xfrm>
          <a:prstGeom prst="chevron">
            <a:avLst/>
          </a:prstGeom>
          <a:solidFill>
            <a:srgbClr val="00F0FF"/>
          </a:solidFill>
          <a:ln/>
          <a:effectLst>
            <a:outerShdw sx="100000" sy="100000" kx="0" ky="0" algn="bl" rotWithShape="0" blurRad="127000" dist="50800" dir="16200000">
              <a:srgbClr val="00F0FF">
                <a:alpha val="70000"/>
              </a:srgbClr>
            </a:outerShdw>
          </a:effectLst>
        </p:spPr>
      </p:sp>
      <p:sp>
        <p:nvSpPr>
          <p:cNvPr id="24" name="Shape 22"/>
          <p:cNvSpPr/>
          <p:nvPr/>
        </p:nvSpPr>
        <p:spPr>
          <a:xfrm>
            <a:off x="9675724" y="2971800"/>
            <a:ext cx="1874520" cy="1737360"/>
          </a:xfrm>
          <a:prstGeom prst="roundRect">
            <a:avLst>
              <a:gd name="adj" fmla="val 7368"/>
            </a:avLst>
          </a:prstGeom>
          <a:solidFill>
            <a:srgbClr val="10173D">
              <a:alpha val="88000"/>
            </a:srgbClr>
          </a:solidFill>
          <a:ln w="19050">
            <a:solidFill>
              <a:srgbClr val="FF00FF"/>
            </a:solidFill>
            <a:prstDash val="solid"/>
          </a:ln>
          <a:effectLst>
            <a:outerShdw sx="100000" sy="100000" kx="0" ky="0" algn="bl" rotWithShape="0" blurRad="228600" dist="50800" dir="16200000">
              <a:srgbClr val="FF00FF">
                <a:alpha val="50000"/>
              </a:srgbClr>
            </a:outerShdw>
          </a:effectLst>
        </p:spPr>
      </p:sp>
      <p:sp>
        <p:nvSpPr>
          <p:cNvPr id="25" name="Text 23"/>
          <p:cNvSpPr/>
          <p:nvPr/>
        </p:nvSpPr>
        <p:spPr>
          <a:xfrm>
            <a:off x="9803740" y="3081528"/>
            <a:ext cx="502920" cy="457200"/>
          </a:xfrm>
          <a:prstGeom prst="rect">
            <a:avLst/>
          </a:prstGeom>
          <a:noFill/>
          <a:ln/>
        </p:spPr>
        <p:txBody>
          <a:bodyPr wrap="square" rtlCol="0" anchor="ctr"/>
          <a:lstStyle/>
          <a:p>
            <a:pPr indent="0" marL="0">
              <a:buNone/>
            </a:pPr>
            <a:r>
              <a:rPr lang="en-US" sz="1800" b="1" dirty="0">
                <a:solidFill>
                  <a:srgbClr val="FF00FF"/>
                </a:solidFill>
                <a:effectLst>
                  <a:glow rad="76200">
                    <a:srgbClr val="FF00FF">
                      <a:alpha val="50000"/>
                    </a:srgbClr>
                  </a:glow>
                </a:effectLst>
                <a:latin typeface="Montserrat" pitchFamily="34" charset="0"/>
                <a:ea typeface="Montserrat" pitchFamily="34" charset="-122"/>
                <a:cs typeface="Montserrat" pitchFamily="34" charset="-120"/>
              </a:rPr>
              <a:t>5</a:t>
            </a:r>
            <a:endParaRPr lang="en-US" sz="1800" dirty="0"/>
          </a:p>
        </p:txBody>
      </p:sp>
      <p:sp>
        <p:nvSpPr>
          <p:cNvPr id="26" name="Text 24"/>
          <p:cNvSpPr/>
          <p:nvPr/>
        </p:nvSpPr>
        <p:spPr>
          <a:xfrm>
            <a:off x="9767164" y="3575304"/>
            <a:ext cx="1691640" cy="457200"/>
          </a:xfrm>
          <a:prstGeom prst="rect">
            <a:avLst/>
          </a:prstGeom>
          <a:noFill/>
          <a:ln/>
        </p:spPr>
        <p:txBody>
          <a:bodyPr wrap="square" rtlCol="0" anchor="ctr"/>
          <a:lstStyle/>
          <a:p>
            <a:pPr algn="ctr" indent="0" marL="0">
              <a:buNone/>
            </a:pPr>
            <a:r>
              <a:rPr lang="en-US" sz="1700" b="1" dirty="0">
                <a:solidFill>
                  <a:srgbClr val="FFFFFF"/>
                </a:solidFill>
                <a:effectLst>
                  <a:glow rad="76200">
                    <a:srgbClr val="FF00FF">
                      <a:alpha val="40000"/>
                    </a:srgbClr>
                  </a:glow>
                </a:effectLst>
                <a:latin typeface="Montserrat" pitchFamily="34" charset="0"/>
                <a:ea typeface="Montserrat" pitchFamily="34" charset="-122"/>
                <a:cs typeface="Montserrat" pitchFamily="34" charset="-120"/>
              </a:rPr>
              <a:t>Export</a:t>
            </a:r>
            <a:endParaRPr lang="en-US" sz="1700" dirty="0"/>
          </a:p>
        </p:txBody>
      </p:sp>
      <p:sp>
        <p:nvSpPr>
          <p:cNvPr id="27" name="Text 25"/>
          <p:cNvSpPr/>
          <p:nvPr/>
        </p:nvSpPr>
        <p:spPr>
          <a:xfrm>
            <a:off x="9767164" y="4032504"/>
            <a:ext cx="1691640" cy="54864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PDF / share link</a:t>
            </a:r>
            <a:endParaRPr lang="en-US" sz="1150" dirty="0"/>
          </a:p>
        </p:txBody>
      </p:sp>
      <p:sp>
        <p:nvSpPr>
          <p:cNvPr id="28" name="Text 26"/>
          <p:cNvSpPr/>
          <p:nvPr/>
        </p:nvSpPr>
        <p:spPr>
          <a:xfrm>
            <a:off x="0" y="5074920"/>
            <a:ext cx="12191695" cy="457200"/>
          </a:xfrm>
          <a:prstGeom prst="rect">
            <a:avLst/>
          </a:prstGeom>
          <a:noFill/>
          <a:ln/>
        </p:spPr>
        <p:txBody>
          <a:bodyPr wrap="square" rtlCol="0" anchor="ctr"/>
          <a:lstStyle/>
          <a:p>
            <a:pPr algn="ctr" indent="0" marL="0">
              <a:buNone/>
            </a:pPr>
            <a:r>
              <a:rPr lang="en-US" sz="1600" i="1" dirty="0">
                <a:solidFill>
                  <a:srgbClr val="00FF00"/>
                </a:solidFill>
                <a:effectLst>
                  <a:glow rad="101600">
                    <a:srgbClr val="00FF00">
                      <a:alpha val="50000"/>
                    </a:srgbClr>
                  </a:glow>
                </a:effectLst>
                <a:latin typeface="Arial" pitchFamily="34" charset="0"/>
                <a:ea typeface="Arial" pitchFamily="34" charset="-122"/>
                <a:cs typeface="Arial" pitchFamily="34" charset="-120"/>
              </a:rPr>
              <a:t>~60 seconds, end to end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00F0FF"/>
                </a:solidFill>
                <a:effectLst>
                  <a:glow rad="101600">
                    <a:srgbClr val="00F0FF">
                      <a:alpha val="50000"/>
                    </a:srgbClr>
                  </a:glow>
                </a:effectLst>
                <a:latin typeface="Montserrat" pitchFamily="34" charset="0"/>
                <a:ea typeface="Montserrat" pitchFamily="34" charset="-122"/>
                <a:cs typeface="Montserrat" pitchFamily="34" charset="-120"/>
              </a:rPr>
              <a:t>LIVE DEMO</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00F0FF">
                      <a:alpha val="45000"/>
                    </a:srgbClr>
                  </a:glow>
                </a:effectLst>
                <a:latin typeface="Montserrat" pitchFamily="34" charset="0"/>
                <a:ea typeface="Montserrat" pitchFamily="34" charset="-122"/>
                <a:cs typeface="Montserrat" pitchFamily="34" charset="-120"/>
              </a:rPr>
              <a:t>From Idea to GTM Plan in 60 Seconds.</a:t>
            </a:r>
            <a:endParaRPr lang="en-US" sz="3300" dirty="0"/>
          </a:p>
        </p:txBody>
      </p:sp>
      <p:sp>
        <p:nvSpPr>
          <p:cNvPr id="4" name="Shape 2"/>
          <p:cNvSpPr/>
          <p:nvPr/>
        </p:nvSpPr>
        <p:spPr>
          <a:xfrm>
            <a:off x="2468880" y="1965960"/>
            <a:ext cx="7269480" cy="3703320"/>
          </a:xfrm>
          <a:prstGeom prst="roundRect">
            <a:avLst>
              <a:gd name="adj" fmla="val 2469"/>
            </a:avLst>
          </a:prstGeom>
          <a:solidFill>
            <a:srgbClr val="060A1E">
              <a:alpha val="95000"/>
            </a:srgbClr>
          </a:solidFill>
          <a:ln w="31750">
            <a:solidFill>
              <a:srgbClr val="00F0FF"/>
            </a:solidFill>
            <a:prstDash val="solid"/>
          </a:ln>
          <a:effectLst>
            <a:outerShdw sx="100000" sy="100000" kx="0" ky="0" algn="bl" rotWithShape="0" blurRad="431800" dist="50800" dir="16200000">
              <a:srgbClr val="00F0FF">
                <a:alpha val="70000"/>
              </a:srgbClr>
            </a:outerShdw>
          </a:effectLst>
        </p:spPr>
      </p:sp>
      <p:sp>
        <p:nvSpPr>
          <p:cNvPr id="5" name="Shape 3"/>
          <p:cNvSpPr/>
          <p:nvPr/>
        </p:nvSpPr>
        <p:spPr>
          <a:xfrm>
            <a:off x="2468880" y="1965960"/>
            <a:ext cx="457200" cy="82296"/>
          </a:xfrm>
          <a:prstGeom prst="roundRect">
            <a:avLst>
              <a:gd name="adj" fmla="val 22222"/>
            </a:avLst>
          </a:prstGeom>
          <a:solidFill>
            <a:srgbClr val="FF00FF"/>
          </a:solidFill>
          <a:ln/>
          <a:effectLst>
            <a:outerShdw sx="100000" sy="100000" kx="0" ky="0" algn="bl" rotWithShape="0" blurRad="101600" dist="50800" dir="16200000">
              <a:srgbClr val="FF00FF">
                <a:alpha val="80000"/>
              </a:srgbClr>
            </a:outerShdw>
          </a:effectLst>
        </p:spPr>
      </p:sp>
      <p:sp>
        <p:nvSpPr>
          <p:cNvPr id="6" name="Shape 4"/>
          <p:cNvSpPr/>
          <p:nvPr/>
        </p:nvSpPr>
        <p:spPr>
          <a:xfrm>
            <a:off x="2468880" y="1965960"/>
            <a:ext cx="82296" cy="457200"/>
          </a:xfrm>
          <a:prstGeom prst="roundRect">
            <a:avLst>
              <a:gd name="adj" fmla="val 22222"/>
            </a:avLst>
          </a:prstGeom>
          <a:solidFill>
            <a:srgbClr val="FF00FF"/>
          </a:solidFill>
          <a:ln/>
          <a:effectLst>
            <a:outerShdw sx="100000" sy="100000" kx="0" ky="0" algn="bl" rotWithShape="0" blurRad="101600" dist="50800" dir="16200000">
              <a:srgbClr val="FF00FF">
                <a:alpha val="80000"/>
              </a:srgbClr>
            </a:outerShdw>
          </a:effectLst>
        </p:spPr>
      </p:sp>
      <p:sp>
        <p:nvSpPr>
          <p:cNvPr id="7" name="Shape 5"/>
          <p:cNvSpPr/>
          <p:nvPr/>
        </p:nvSpPr>
        <p:spPr>
          <a:xfrm>
            <a:off x="9281160" y="1965960"/>
            <a:ext cx="457200" cy="82296"/>
          </a:xfrm>
          <a:prstGeom prst="roundRect">
            <a:avLst>
              <a:gd name="adj" fmla="val 22222"/>
            </a:avLst>
          </a:prstGeom>
          <a:solidFill>
            <a:srgbClr val="00FF00"/>
          </a:solidFill>
          <a:ln/>
          <a:effectLst>
            <a:outerShdw sx="100000" sy="100000" kx="0" ky="0" algn="bl" rotWithShape="0" blurRad="101600" dist="50800" dir="16200000">
              <a:srgbClr val="00FF00">
                <a:alpha val="80000"/>
              </a:srgbClr>
            </a:outerShdw>
          </a:effectLst>
        </p:spPr>
      </p:sp>
      <p:sp>
        <p:nvSpPr>
          <p:cNvPr id="8" name="Shape 6"/>
          <p:cNvSpPr/>
          <p:nvPr/>
        </p:nvSpPr>
        <p:spPr>
          <a:xfrm>
            <a:off x="9281160" y="1965960"/>
            <a:ext cx="82296" cy="457200"/>
          </a:xfrm>
          <a:prstGeom prst="roundRect">
            <a:avLst>
              <a:gd name="adj" fmla="val 22222"/>
            </a:avLst>
          </a:prstGeom>
          <a:solidFill>
            <a:srgbClr val="00FF00"/>
          </a:solidFill>
          <a:ln/>
          <a:effectLst>
            <a:outerShdw sx="100000" sy="100000" kx="0" ky="0" algn="bl" rotWithShape="0" blurRad="101600" dist="50800" dir="16200000">
              <a:srgbClr val="00FF00">
                <a:alpha val="80000"/>
              </a:srgbClr>
            </a:outerShdw>
          </a:effectLst>
        </p:spPr>
      </p:sp>
      <p:sp>
        <p:nvSpPr>
          <p:cNvPr id="9" name="Shape 7"/>
          <p:cNvSpPr/>
          <p:nvPr/>
        </p:nvSpPr>
        <p:spPr>
          <a:xfrm>
            <a:off x="2468880" y="5212080"/>
            <a:ext cx="457200" cy="82296"/>
          </a:xfrm>
          <a:prstGeom prst="roundRect">
            <a:avLst>
              <a:gd name="adj" fmla="val 22222"/>
            </a:avLst>
          </a:prstGeom>
          <a:solidFill>
            <a:srgbClr val="00FF00"/>
          </a:solidFill>
          <a:ln/>
          <a:effectLst>
            <a:outerShdw sx="100000" sy="100000" kx="0" ky="0" algn="bl" rotWithShape="0" blurRad="101600" dist="50800" dir="16200000">
              <a:srgbClr val="00FF00">
                <a:alpha val="80000"/>
              </a:srgbClr>
            </a:outerShdw>
          </a:effectLst>
        </p:spPr>
      </p:sp>
      <p:sp>
        <p:nvSpPr>
          <p:cNvPr id="10" name="Shape 8"/>
          <p:cNvSpPr/>
          <p:nvPr/>
        </p:nvSpPr>
        <p:spPr>
          <a:xfrm>
            <a:off x="2468880" y="5212080"/>
            <a:ext cx="82296" cy="457200"/>
          </a:xfrm>
          <a:prstGeom prst="roundRect">
            <a:avLst>
              <a:gd name="adj" fmla="val 22222"/>
            </a:avLst>
          </a:prstGeom>
          <a:solidFill>
            <a:srgbClr val="00FF00"/>
          </a:solidFill>
          <a:ln/>
          <a:effectLst>
            <a:outerShdw sx="100000" sy="100000" kx="0" ky="0" algn="bl" rotWithShape="0" blurRad="101600" dist="50800" dir="16200000">
              <a:srgbClr val="00FF00">
                <a:alpha val="80000"/>
              </a:srgbClr>
            </a:outerShdw>
          </a:effectLst>
        </p:spPr>
      </p:sp>
      <p:sp>
        <p:nvSpPr>
          <p:cNvPr id="11" name="Shape 9"/>
          <p:cNvSpPr/>
          <p:nvPr/>
        </p:nvSpPr>
        <p:spPr>
          <a:xfrm>
            <a:off x="9281160" y="5212080"/>
            <a:ext cx="457200" cy="82296"/>
          </a:xfrm>
          <a:prstGeom prst="roundRect">
            <a:avLst>
              <a:gd name="adj" fmla="val 22222"/>
            </a:avLst>
          </a:prstGeom>
          <a:solidFill>
            <a:srgbClr val="FF00FF"/>
          </a:solidFill>
          <a:ln/>
          <a:effectLst>
            <a:outerShdw sx="100000" sy="100000" kx="0" ky="0" algn="bl" rotWithShape="0" blurRad="101600" dist="50800" dir="16200000">
              <a:srgbClr val="FF00FF">
                <a:alpha val="80000"/>
              </a:srgbClr>
            </a:outerShdw>
          </a:effectLst>
        </p:spPr>
      </p:sp>
      <p:sp>
        <p:nvSpPr>
          <p:cNvPr id="12" name="Shape 10"/>
          <p:cNvSpPr/>
          <p:nvPr/>
        </p:nvSpPr>
        <p:spPr>
          <a:xfrm>
            <a:off x="9281160" y="5212080"/>
            <a:ext cx="82296" cy="457200"/>
          </a:xfrm>
          <a:prstGeom prst="roundRect">
            <a:avLst>
              <a:gd name="adj" fmla="val 22222"/>
            </a:avLst>
          </a:prstGeom>
          <a:solidFill>
            <a:srgbClr val="FF00FF"/>
          </a:solidFill>
          <a:ln/>
          <a:effectLst>
            <a:outerShdw sx="100000" sy="100000" kx="0" ky="0" algn="bl" rotWithShape="0" blurRad="101600" dist="50800" dir="16200000">
              <a:srgbClr val="FF00FF">
                <a:alpha val="80000"/>
              </a:srgbClr>
            </a:outerShdw>
          </a:effectLst>
        </p:spPr>
      </p:sp>
      <p:sp>
        <p:nvSpPr>
          <p:cNvPr id="13" name="Shape 11"/>
          <p:cNvSpPr/>
          <p:nvPr/>
        </p:nvSpPr>
        <p:spPr>
          <a:xfrm>
            <a:off x="5417820" y="3131820"/>
            <a:ext cx="1371600" cy="1371600"/>
          </a:xfrm>
          <a:prstGeom prst="ellipse">
            <a:avLst/>
          </a:prstGeom>
          <a:solidFill>
            <a:srgbClr val="10173D">
              <a:alpha val="90000"/>
            </a:srgbClr>
          </a:solidFill>
          <a:ln w="31750">
            <a:solidFill>
              <a:srgbClr val="00FF00"/>
            </a:solidFill>
            <a:prstDash val="solid"/>
          </a:ln>
          <a:effectLst>
            <a:outerShdw sx="100000" sy="100000" kx="0" ky="0" algn="bl" rotWithShape="0" blurRad="304800" dist="50800" dir="16200000">
              <a:srgbClr val="00FF00">
                <a:alpha val="80000"/>
              </a:srgbClr>
            </a:outerShdw>
          </a:effectLst>
        </p:spPr>
      </p:sp>
      <p:pic>
        <p:nvPicPr>
          <p:cNvPr id="14" name="Image 0" descr="icon_play.png">    </p:cNvPr>
          <p:cNvPicPr>
            <a:picLocks noChangeAspect="1"/>
          </p:cNvPicPr>
          <p:nvPr/>
        </p:nvPicPr>
        <p:blipFill>
          <a:blip r:embed="rId2"/>
          <a:stretch>
            <a:fillRect/>
          </a:stretch>
        </p:blipFill>
        <p:spPr>
          <a:xfrm>
            <a:off x="5719572" y="3433572"/>
            <a:ext cx="822960" cy="822960"/>
          </a:xfrm>
          <a:prstGeom prst="rect">
            <a:avLst/>
          </a:prstGeom>
        </p:spPr>
      </p:pic>
      <p:sp>
        <p:nvSpPr>
          <p:cNvPr id="15" name="Text 12"/>
          <p:cNvSpPr/>
          <p:nvPr/>
        </p:nvSpPr>
        <p:spPr>
          <a:xfrm>
            <a:off x="2468880" y="4503420"/>
            <a:ext cx="7269480" cy="365760"/>
          </a:xfrm>
          <a:prstGeom prst="rect">
            <a:avLst/>
          </a:prstGeom>
          <a:noFill/>
          <a:ln/>
        </p:spPr>
        <p:txBody>
          <a:bodyPr wrap="square" rtlCol="0" anchor="ctr"/>
          <a:lstStyle/>
          <a:p>
            <a:pPr algn="ctr" indent="0" marL="0">
              <a:buNone/>
            </a:pPr>
            <a:r>
              <a:rPr lang="en-US" sz="1300" i="1" dirty="0">
                <a:solidFill>
                  <a:srgbClr val="6E7BB8"/>
                </a:solidFill>
                <a:latin typeface="Arial" pitchFamily="34" charset="0"/>
                <a:ea typeface="Arial" pitchFamily="34" charset="-122"/>
                <a:cs typeface="Arial" pitchFamily="34" charset="-120"/>
              </a:rPr>
              <a:t>Drop your Loom / GIF here</a:t>
            </a:r>
            <a:endParaRPr lang="en-US" sz="1300" dirty="0"/>
          </a:p>
        </p:txBody>
      </p:sp>
      <p:sp>
        <p:nvSpPr>
          <p:cNvPr id="16" name="Text 13"/>
          <p:cNvSpPr/>
          <p:nvPr/>
        </p:nvSpPr>
        <p:spPr>
          <a:xfrm>
            <a:off x="0" y="5897880"/>
            <a:ext cx="12191695" cy="457200"/>
          </a:xfrm>
          <a:prstGeom prst="rect">
            <a:avLst/>
          </a:prstGeom>
          <a:noFill/>
          <a:ln/>
        </p:spPr>
        <p:txBody>
          <a:bodyPr wrap="square" rtlCol="0" anchor="ctr"/>
          <a:lstStyle/>
          <a:p>
            <a:pPr algn="ctr" indent="0" marL="0">
              <a:buNone/>
            </a:pPr>
            <a:r>
              <a:rPr lang="en-US" sz="1500" dirty="0">
                <a:solidFill>
                  <a:srgbClr val="9AA6D6"/>
                </a:solidFill>
                <a:latin typeface="Arial" pitchFamily="34" charset="0"/>
                <a:ea typeface="Arial" pitchFamily="34" charset="-122"/>
                <a:cs typeface="Arial" pitchFamily="34" charset="-120"/>
              </a:rPr>
              <a:t>Watch a raw one-liner become a full, simulated GTM plan — live, in under a minute.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FF00FF"/>
                </a:solidFill>
                <a:effectLst>
                  <a:glow rad="101600">
                    <a:srgbClr val="FF00FF">
                      <a:alpha val="50000"/>
                    </a:srgbClr>
                  </a:glow>
                </a:effectLst>
                <a:latin typeface="Montserrat" pitchFamily="34" charset="0"/>
                <a:ea typeface="Montserrat" pitchFamily="34" charset="-122"/>
                <a:cs typeface="Montserrat" pitchFamily="34" charset="-120"/>
              </a:rPr>
              <a:t>GTM STRATEGY</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FF00FF">
                      <a:alpha val="45000"/>
                    </a:srgbClr>
                  </a:glow>
                </a:effectLst>
                <a:latin typeface="Montserrat" pitchFamily="34" charset="0"/>
                <a:ea typeface="Montserrat" pitchFamily="34" charset="-122"/>
                <a:cs typeface="Montserrat" pitchFamily="34" charset="-120"/>
              </a:rPr>
              <a:t>How We'll Reach 10,000 Founders in Year 1.</a:t>
            </a:r>
            <a:endParaRPr lang="en-US" sz="3300" dirty="0"/>
          </a:p>
        </p:txBody>
      </p:sp>
      <p:sp>
        <p:nvSpPr>
          <p:cNvPr id="4" name="Shape 2"/>
          <p:cNvSpPr/>
          <p:nvPr/>
        </p:nvSpPr>
        <p:spPr>
          <a:xfrm>
            <a:off x="975208" y="1965960"/>
            <a:ext cx="8229600" cy="896112"/>
          </a:xfrm>
          <a:prstGeom prst="roundRect">
            <a:avLst>
              <a:gd name="adj" fmla="val 10204"/>
            </a:avLst>
          </a:prstGeom>
          <a:solidFill>
            <a:srgbClr val="141C4A">
              <a:alpha val="92000"/>
            </a:srgbClr>
          </a:solidFill>
          <a:ln w="22860">
            <a:solidFill>
              <a:srgbClr val="00F0FF"/>
            </a:solidFill>
            <a:prstDash val="solid"/>
          </a:ln>
          <a:effectLst>
            <a:outerShdw sx="100000" sy="100000" kx="0" ky="0" algn="bl" rotWithShape="0" blurRad="228600" dist="50800" dir="16200000">
              <a:srgbClr val="00F0FF">
                <a:alpha val="55000"/>
              </a:srgbClr>
            </a:outerShdw>
          </a:effectLst>
        </p:spPr>
      </p:sp>
      <p:sp>
        <p:nvSpPr>
          <p:cNvPr id="5" name="Text 3"/>
          <p:cNvSpPr/>
          <p:nvPr/>
        </p:nvSpPr>
        <p:spPr>
          <a:xfrm>
            <a:off x="1267816" y="2093976"/>
            <a:ext cx="7644384" cy="365760"/>
          </a:xfrm>
          <a:prstGeom prst="rect">
            <a:avLst/>
          </a:prstGeom>
          <a:noFill/>
          <a:ln/>
        </p:spPr>
        <p:txBody>
          <a:bodyPr wrap="square" rtlCol="0" anchor="ctr"/>
          <a:lstStyle/>
          <a:p>
            <a:pPr indent="0" marL="0">
              <a:buNone/>
            </a:pPr>
            <a:r>
              <a:rPr lang="en-US" sz="1700" b="1" dirty="0">
                <a:solidFill>
                  <a:srgbClr val="00F0FF"/>
                </a:solidFill>
                <a:effectLst>
                  <a:glow rad="76200">
                    <a:srgbClr val="00F0FF">
                      <a:alpha val="45000"/>
                    </a:srgbClr>
                  </a:glow>
                </a:effectLst>
                <a:latin typeface="Montserrat" pitchFamily="34" charset="0"/>
                <a:ea typeface="Montserrat" pitchFamily="34" charset="-122"/>
                <a:cs typeface="Montserrat" pitchFamily="34" charset="-120"/>
              </a:rPr>
              <a:t>Awareness</a:t>
            </a:r>
            <a:endParaRPr lang="en-US" sz="1700" dirty="0"/>
          </a:p>
        </p:txBody>
      </p:sp>
      <p:sp>
        <p:nvSpPr>
          <p:cNvPr id="6" name="Text 4"/>
          <p:cNvSpPr/>
          <p:nvPr/>
        </p:nvSpPr>
        <p:spPr>
          <a:xfrm>
            <a:off x="1267816" y="2468880"/>
            <a:ext cx="7644384" cy="310896"/>
          </a:xfrm>
          <a:prstGeom prst="rect">
            <a:avLst/>
          </a:prstGeom>
          <a:noFill/>
          <a:ln/>
        </p:spPr>
        <p:txBody>
          <a:bodyPr wrap="square" rtlCol="0" anchor="ctr"/>
          <a:lstStyle/>
          <a:p>
            <a:pPr indent="0" marL="0">
              <a:buNone/>
            </a:pPr>
            <a:r>
              <a:rPr lang="en-US" sz="1100" dirty="0">
                <a:solidFill>
                  <a:srgbClr val="9AA6D6"/>
                </a:solidFill>
                <a:latin typeface="Arial" pitchFamily="34" charset="0"/>
                <a:ea typeface="Arial" pitchFamily="34" charset="-122"/>
                <a:cs typeface="Arial" pitchFamily="34" charset="-120"/>
              </a:rPr>
              <a:t>Content, Product Hunt, founder communities</a:t>
            </a:r>
            <a:endParaRPr lang="en-US" sz="1100" dirty="0"/>
          </a:p>
        </p:txBody>
      </p:sp>
      <p:sp>
        <p:nvSpPr>
          <p:cNvPr id="7" name="Text 5"/>
          <p:cNvSpPr/>
          <p:nvPr/>
        </p:nvSpPr>
        <p:spPr>
          <a:xfrm>
            <a:off x="9479128" y="2148840"/>
            <a:ext cx="2194560" cy="548640"/>
          </a:xfrm>
          <a:prstGeom prst="rect">
            <a:avLst/>
          </a:prstGeom>
          <a:noFill/>
          <a:ln/>
        </p:spPr>
        <p:txBody>
          <a:bodyPr wrap="square" rtlCol="0" anchor="ctr"/>
          <a:lstStyle/>
          <a:p>
            <a:pPr indent="0" marL="0">
              <a:buNone/>
            </a:pPr>
            <a:r>
              <a:rPr lang="en-US" sz="2400" b="1" dirty="0">
                <a:solidFill>
                  <a:srgbClr val="FFFFFF"/>
                </a:solidFill>
                <a:effectLst>
                  <a:glow rad="101600">
                    <a:srgbClr val="00F0FF">
                      <a:alpha val="50000"/>
                    </a:srgbClr>
                  </a:glow>
                </a:effectLst>
                <a:latin typeface="Montserrat" pitchFamily="34" charset="0"/>
                <a:ea typeface="Montserrat" pitchFamily="34" charset="-122"/>
                <a:cs typeface="Montserrat" pitchFamily="34" charset="-120"/>
              </a:rPr>
              <a:t>120,000</a:t>
            </a:r>
            <a:endParaRPr lang="en-US" sz="2400" dirty="0"/>
          </a:p>
        </p:txBody>
      </p:sp>
      <p:sp>
        <p:nvSpPr>
          <p:cNvPr id="8" name="Shape 6"/>
          <p:cNvSpPr/>
          <p:nvPr/>
        </p:nvSpPr>
        <p:spPr>
          <a:xfrm>
            <a:off x="1752448" y="3026664"/>
            <a:ext cx="6675120" cy="896112"/>
          </a:xfrm>
          <a:prstGeom prst="roundRect">
            <a:avLst>
              <a:gd name="adj" fmla="val 10204"/>
            </a:avLst>
          </a:prstGeom>
          <a:solidFill>
            <a:srgbClr val="141C4A">
              <a:alpha val="92000"/>
            </a:srgbClr>
          </a:solidFill>
          <a:ln w="22860">
            <a:solidFill>
              <a:srgbClr val="FF00FF"/>
            </a:solidFill>
            <a:prstDash val="solid"/>
          </a:ln>
          <a:effectLst>
            <a:outerShdw sx="100000" sy="100000" kx="0" ky="0" algn="bl" rotWithShape="0" blurRad="228600" dist="50800" dir="16200000">
              <a:srgbClr val="FF00FF">
                <a:alpha val="55000"/>
              </a:srgbClr>
            </a:outerShdw>
          </a:effectLst>
        </p:spPr>
      </p:sp>
      <p:sp>
        <p:nvSpPr>
          <p:cNvPr id="9" name="Text 7"/>
          <p:cNvSpPr/>
          <p:nvPr/>
        </p:nvSpPr>
        <p:spPr>
          <a:xfrm>
            <a:off x="2045056" y="3154680"/>
            <a:ext cx="6089904" cy="365760"/>
          </a:xfrm>
          <a:prstGeom prst="rect">
            <a:avLst/>
          </a:prstGeom>
          <a:noFill/>
          <a:ln/>
        </p:spPr>
        <p:txBody>
          <a:bodyPr wrap="square" rtlCol="0" anchor="ctr"/>
          <a:lstStyle/>
          <a:p>
            <a:pPr indent="0" marL="0">
              <a:buNone/>
            </a:pPr>
            <a:r>
              <a:rPr lang="en-US" sz="1700" b="1" dirty="0">
                <a:solidFill>
                  <a:srgbClr val="FF00FF"/>
                </a:solidFill>
                <a:effectLst>
                  <a:glow rad="76200">
                    <a:srgbClr val="FF00FF">
                      <a:alpha val="45000"/>
                    </a:srgbClr>
                  </a:glow>
                </a:effectLst>
                <a:latin typeface="Montserrat" pitchFamily="34" charset="0"/>
                <a:ea typeface="Montserrat" pitchFamily="34" charset="-122"/>
                <a:cs typeface="Montserrat" pitchFamily="34" charset="-120"/>
              </a:rPr>
              <a:t>Trial</a:t>
            </a:r>
            <a:endParaRPr lang="en-US" sz="1700" dirty="0"/>
          </a:p>
        </p:txBody>
      </p:sp>
      <p:sp>
        <p:nvSpPr>
          <p:cNvPr id="10" name="Text 8"/>
          <p:cNvSpPr/>
          <p:nvPr/>
        </p:nvSpPr>
        <p:spPr>
          <a:xfrm>
            <a:off x="2045056" y="3529584"/>
            <a:ext cx="6089904" cy="310896"/>
          </a:xfrm>
          <a:prstGeom prst="rect">
            <a:avLst/>
          </a:prstGeom>
          <a:noFill/>
          <a:ln/>
        </p:spPr>
        <p:txBody>
          <a:bodyPr wrap="square" rtlCol="0" anchor="ctr"/>
          <a:lstStyle/>
          <a:p>
            <a:pPr indent="0" marL="0">
              <a:buNone/>
            </a:pPr>
            <a:r>
              <a:rPr lang="en-US" sz="1100" dirty="0">
                <a:solidFill>
                  <a:srgbClr val="9AA6D6"/>
                </a:solidFill>
                <a:latin typeface="Arial" pitchFamily="34" charset="0"/>
                <a:ea typeface="Arial" pitchFamily="34" charset="-122"/>
                <a:cs typeface="Arial" pitchFamily="34" charset="-120"/>
              </a:rPr>
              <a:t>Free 60-second simulation, no signup</a:t>
            </a:r>
            <a:endParaRPr lang="en-US" sz="1100" dirty="0"/>
          </a:p>
        </p:txBody>
      </p:sp>
      <p:sp>
        <p:nvSpPr>
          <p:cNvPr id="11" name="Text 9"/>
          <p:cNvSpPr/>
          <p:nvPr/>
        </p:nvSpPr>
        <p:spPr>
          <a:xfrm>
            <a:off x="8701888" y="3209544"/>
            <a:ext cx="2194560" cy="548640"/>
          </a:xfrm>
          <a:prstGeom prst="rect">
            <a:avLst/>
          </a:prstGeom>
          <a:noFill/>
          <a:ln/>
        </p:spPr>
        <p:txBody>
          <a:bodyPr wrap="square" rtlCol="0" anchor="ctr"/>
          <a:lstStyle/>
          <a:p>
            <a:pPr indent="0" marL="0">
              <a:buNone/>
            </a:pPr>
            <a:r>
              <a:rPr lang="en-US" sz="2400" b="1" dirty="0">
                <a:solidFill>
                  <a:srgbClr val="FFFFFF"/>
                </a:solidFill>
                <a:effectLst>
                  <a:glow rad="101600">
                    <a:srgbClr val="FF00FF">
                      <a:alpha val="50000"/>
                    </a:srgbClr>
                  </a:glow>
                </a:effectLst>
                <a:latin typeface="Montserrat" pitchFamily="34" charset="0"/>
                <a:ea typeface="Montserrat" pitchFamily="34" charset="-122"/>
                <a:cs typeface="Montserrat" pitchFamily="34" charset="-120"/>
              </a:rPr>
              <a:t>35,000</a:t>
            </a:r>
            <a:endParaRPr lang="en-US" sz="2400" dirty="0"/>
          </a:p>
        </p:txBody>
      </p:sp>
      <p:sp>
        <p:nvSpPr>
          <p:cNvPr id="12" name="Shape 10"/>
          <p:cNvSpPr/>
          <p:nvPr/>
        </p:nvSpPr>
        <p:spPr>
          <a:xfrm>
            <a:off x="2529688" y="4087368"/>
            <a:ext cx="5120640" cy="896112"/>
          </a:xfrm>
          <a:prstGeom prst="roundRect">
            <a:avLst>
              <a:gd name="adj" fmla="val 10204"/>
            </a:avLst>
          </a:prstGeom>
          <a:solidFill>
            <a:srgbClr val="141C4A">
              <a:alpha val="92000"/>
            </a:srgbClr>
          </a:solidFill>
          <a:ln w="22860">
            <a:solidFill>
              <a:srgbClr val="00FF00"/>
            </a:solidFill>
            <a:prstDash val="solid"/>
          </a:ln>
          <a:effectLst>
            <a:outerShdw sx="100000" sy="100000" kx="0" ky="0" algn="bl" rotWithShape="0" blurRad="228600" dist="50800" dir="16200000">
              <a:srgbClr val="00FF00">
                <a:alpha val="55000"/>
              </a:srgbClr>
            </a:outerShdw>
          </a:effectLst>
        </p:spPr>
      </p:sp>
      <p:sp>
        <p:nvSpPr>
          <p:cNvPr id="13" name="Text 11"/>
          <p:cNvSpPr/>
          <p:nvPr/>
        </p:nvSpPr>
        <p:spPr>
          <a:xfrm>
            <a:off x="2822296" y="4215384"/>
            <a:ext cx="4535424" cy="365760"/>
          </a:xfrm>
          <a:prstGeom prst="rect">
            <a:avLst/>
          </a:prstGeom>
          <a:noFill/>
          <a:ln/>
        </p:spPr>
        <p:txBody>
          <a:bodyPr wrap="square" rtlCol="0" anchor="ctr"/>
          <a:lstStyle/>
          <a:p>
            <a:pPr indent="0" marL="0">
              <a:buNone/>
            </a:pPr>
            <a:r>
              <a:rPr lang="en-US" sz="1700" b="1" dirty="0">
                <a:solidFill>
                  <a:srgbClr val="00FF00"/>
                </a:solidFill>
                <a:effectLst>
                  <a:glow rad="76200">
                    <a:srgbClr val="00FF00">
                      <a:alpha val="45000"/>
                    </a:srgbClr>
                  </a:glow>
                </a:effectLst>
                <a:latin typeface="Montserrat" pitchFamily="34" charset="0"/>
                <a:ea typeface="Montserrat" pitchFamily="34" charset="-122"/>
                <a:cs typeface="Montserrat" pitchFamily="34" charset="-120"/>
              </a:rPr>
              <a:t>Conversion</a:t>
            </a:r>
            <a:endParaRPr lang="en-US" sz="1700" dirty="0"/>
          </a:p>
        </p:txBody>
      </p:sp>
      <p:sp>
        <p:nvSpPr>
          <p:cNvPr id="14" name="Text 12"/>
          <p:cNvSpPr/>
          <p:nvPr/>
        </p:nvSpPr>
        <p:spPr>
          <a:xfrm>
            <a:off x="2822296" y="4590288"/>
            <a:ext cx="4535424" cy="310896"/>
          </a:xfrm>
          <a:prstGeom prst="rect">
            <a:avLst/>
          </a:prstGeom>
          <a:noFill/>
          <a:ln/>
        </p:spPr>
        <p:txBody>
          <a:bodyPr wrap="square" rtlCol="0" anchor="ctr"/>
          <a:lstStyle/>
          <a:p>
            <a:pPr indent="0" marL="0">
              <a:buNone/>
            </a:pPr>
            <a:r>
              <a:rPr lang="en-US" sz="1100" dirty="0">
                <a:solidFill>
                  <a:srgbClr val="9AA6D6"/>
                </a:solidFill>
                <a:latin typeface="Arial" pitchFamily="34" charset="0"/>
                <a:ea typeface="Arial" pitchFamily="34" charset="-122"/>
                <a:cs typeface="Arial" pitchFamily="34" charset="-120"/>
              </a:rPr>
              <a:t>Upgrade for full plan + export</a:t>
            </a:r>
            <a:endParaRPr lang="en-US" sz="1100" dirty="0"/>
          </a:p>
        </p:txBody>
      </p:sp>
      <p:sp>
        <p:nvSpPr>
          <p:cNvPr id="15" name="Text 13"/>
          <p:cNvSpPr/>
          <p:nvPr/>
        </p:nvSpPr>
        <p:spPr>
          <a:xfrm>
            <a:off x="7924648" y="4270248"/>
            <a:ext cx="2194560" cy="548640"/>
          </a:xfrm>
          <a:prstGeom prst="rect">
            <a:avLst/>
          </a:prstGeom>
          <a:noFill/>
          <a:ln/>
        </p:spPr>
        <p:txBody>
          <a:bodyPr wrap="square" rtlCol="0" anchor="ctr"/>
          <a:lstStyle/>
          <a:p>
            <a:pPr indent="0" marL="0">
              <a:buNone/>
            </a:pPr>
            <a:r>
              <a:rPr lang="en-US" sz="2400" b="1" dirty="0">
                <a:solidFill>
                  <a:srgbClr val="FFFFFF"/>
                </a:solidFill>
                <a:effectLst>
                  <a:glow rad="101600">
                    <a:srgbClr val="00FF00">
                      <a:alpha val="50000"/>
                    </a:srgbClr>
                  </a:glow>
                </a:effectLst>
                <a:latin typeface="Montserrat" pitchFamily="34" charset="0"/>
                <a:ea typeface="Montserrat" pitchFamily="34" charset="-122"/>
                <a:cs typeface="Montserrat" pitchFamily="34" charset="-120"/>
              </a:rPr>
              <a:t>10,000</a:t>
            </a:r>
            <a:endParaRPr lang="en-US" sz="2400" dirty="0"/>
          </a:p>
        </p:txBody>
      </p:sp>
      <p:sp>
        <p:nvSpPr>
          <p:cNvPr id="16" name="Shape 14"/>
          <p:cNvSpPr/>
          <p:nvPr/>
        </p:nvSpPr>
        <p:spPr>
          <a:xfrm>
            <a:off x="3215488" y="5148072"/>
            <a:ext cx="3749040" cy="896112"/>
          </a:xfrm>
          <a:prstGeom prst="roundRect">
            <a:avLst>
              <a:gd name="adj" fmla="val 10204"/>
            </a:avLst>
          </a:prstGeom>
          <a:solidFill>
            <a:srgbClr val="141C4A">
              <a:alpha val="92000"/>
            </a:srgbClr>
          </a:solidFill>
          <a:ln w="22860">
            <a:solidFill>
              <a:srgbClr val="00F0FF"/>
            </a:solidFill>
            <a:prstDash val="solid"/>
          </a:ln>
          <a:effectLst>
            <a:outerShdw sx="100000" sy="100000" kx="0" ky="0" algn="bl" rotWithShape="0" blurRad="228600" dist="50800" dir="16200000">
              <a:srgbClr val="00F0FF">
                <a:alpha val="55000"/>
              </a:srgbClr>
            </a:outerShdw>
          </a:effectLst>
        </p:spPr>
      </p:sp>
      <p:sp>
        <p:nvSpPr>
          <p:cNvPr id="17" name="Text 15"/>
          <p:cNvSpPr/>
          <p:nvPr/>
        </p:nvSpPr>
        <p:spPr>
          <a:xfrm>
            <a:off x="3508096" y="5276088"/>
            <a:ext cx="3163824" cy="365760"/>
          </a:xfrm>
          <a:prstGeom prst="rect">
            <a:avLst/>
          </a:prstGeom>
          <a:noFill/>
          <a:ln/>
        </p:spPr>
        <p:txBody>
          <a:bodyPr wrap="square" rtlCol="0" anchor="ctr"/>
          <a:lstStyle/>
          <a:p>
            <a:pPr indent="0" marL="0">
              <a:buNone/>
            </a:pPr>
            <a:r>
              <a:rPr lang="en-US" sz="1700" b="1" dirty="0">
                <a:solidFill>
                  <a:srgbClr val="00F0FF"/>
                </a:solidFill>
                <a:effectLst>
                  <a:glow rad="76200">
                    <a:srgbClr val="00F0FF">
                      <a:alpha val="45000"/>
                    </a:srgbClr>
                  </a:glow>
                </a:effectLst>
                <a:latin typeface="Montserrat" pitchFamily="34" charset="0"/>
                <a:ea typeface="Montserrat" pitchFamily="34" charset="-122"/>
                <a:cs typeface="Montserrat" pitchFamily="34" charset="-120"/>
              </a:rPr>
              <a:t>Referral</a:t>
            </a:r>
            <a:endParaRPr lang="en-US" sz="1700" dirty="0"/>
          </a:p>
        </p:txBody>
      </p:sp>
      <p:sp>
        <p:nvSpPr>
          <p:cNvPr id="18" name="Text 16"/>
          <p:cNvSpPr/>
          <p:nvPr/>
        </p:nvSpPr>
        <p:spPr>
          <a:xfrm>
            <a:off x="3508096" y="5650992"/>
            <a:ext cx="3163824" cy="310896"/>
          </a:xfrm>
          <a:prstGeom prst="rect">
            <a:avLst/>
          </a:prstGeom>
          <a:noFill/>
          <a:ln/>
        </p:spPr>
        <p:txBody>
          <a:bodyPr wrap="square" rtlCol="0" anchor="ctr"/>
          <a:lstStyle/>
          <a:p>
            <a:pPr indent="0" marL="0">
              <a:buNone/>
            </a:pPr>
            <a:r>
              <a:rPr lang="en-US" sz="1100" dirty="0">
                <a:solidFill>
                  <a:srgbClr val="9AA6D6"/>
                </a:solidFill>
                <a:latin typeface="Arial" pitchFamily="34" charset="0"/>
                <a:ea typeface="Arial" pitchFamily="34" charset="-122"/>
                <a:cs typeface="Arial" pitchFamily="34" charset="-120"/>
              </a:rPr>
              <a:t>Shareable plans drive a viral loop</a:t>
            </a:r>
            <a:endParaRPr lang="en-US" sz="1100" dirty="0"/>
          </a:p>
        </p:txBody>
      </p:sp>
      <p:sp>
        <p:nvSpPr>
          <p:cNvPr id="19" name="Text 17"/>
          <p:cNvSpPr/>
          <p:nvPr/>
        </p:nvSpPr>
        <p:spPr>
          <a:xfrm>
            <a:off x="7238848" y="5330952"/>
            <a:ext cx="2194560" cy="548640"/>
          </a:xfrm>
          <a:prstGeom prst="rect">
            <a:avLst/>
          </a:prstGeom>
          <a:noFill/>
          <a:ln/>
        </p:spPr>
        <p:txBody>
          <a:bodyPr wrap="square" rtlCol="0" anchor="ctr"/>
          <a:lstStyle/>
          <a:p>
            <a:pPr indent="0" marL="0">
              <a:buNone/>
            </a:pPr>
            <a:r>
              <a:rPr lang="en-US" sz="2400" b="1" dirty="0">
                <a:solidFill>
                  <a:srgbClr val="FFFFFF"/>
                </a:solidFill>
                <a:effectLst>
                  <a:glow rad="101600">
                    <a:srgbClr val="00F0FF">
                      <a:alpha val="50000"/>
                    </a:srgbClr>
                  </a:glow>
                </a:effectLst>
                <a:latin typeface="Montserrat" pitchFamily="34" charset="0"/>
                <a:ea typeface="Montserrat" pitchFamily="34" charset="-122"/>
                <a:cs typeface="Montserrat" pitchFamily="34" charset="-120"/>
              </a:rPr>
              <a:t>3,500</a:t>
            </a:r>
            <a:endParaRPr lang="en-US" sz="2400" dirty="0"/>
          </a:p>
        </p:txBody>
      </p:sp>
      <p:sp>
        <p:nvSpPr>
          <p:cNvPr id="20" name="Text 18"/>
          <p:cNvSpPr/>
          <p:nvPr/>
        </p:nvSpPr>
        <p:spPr>
          <a:xfrm>
            <a:off x="0" y="6263640"/>
            <a:ext cx="12191695" cy="365760"/>
          </a:xfrm>
          <a:prstGeom prst="rect">
            <a:avLst/>
          </a:prstGeom>
          <a:noFill/>
          <a:ln/>
        </p:spPr>
        <p:txBody>
          <a:bodyPr wrap="square" rtlCol="0" anchor="ctr"/>
          <a:lstStyle/>
          <a:p>
            <a:pPr algn="ctr" indent="0" marL="0">
              <a:buNone/>
            </a:pPr>
            <a:r>
              <a:rPr lang="en-US" sz="1400" i="1" dirty="0">
                <a:solidFill>
                  <a:srgbClr val="00FF00"/>
                </a:solidFill>
                <a:latin typeface="Arial" pitchFamily="34" charset="0"/>
                <a:ea typeface="Arial" pitchFamily="34" charset="-122"/>
                <a:cs typeface="Arial" pitchFamily="34" charset="-120"/>
              </a:rPr>
              <a:t>Target: 10,000 paying founders — an 8.3% top-to-conversion funnel.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00FF00"/>
                </a:solidFill>
                <a:effectLst>
                  <a:glow rad="101600">
                    <a:srgbClr val="00FF00">
                      <a:alpha val="50000"/>
                    </a:srgbClr>
                  </a:glow>
                </a:effectLst>
                <a:latin typeface="Montserrat" pitchFamily="34" charset="0"/>
                <a:ea typeface="Montserrat" pitchFamily="34" charset="-122"/>
                <a:cs typeface="Montserrat" pitchFamily="34" charset="-120"/>
              </a:rPr>
              <a:t>BUSINESS IMPACT</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00FF00">
                      <a:alpha val="45000"/>
                    </a:srgbClr>
                  </a:glow>
                </a:effectLst>
                <a:latin typeface="Montserrat" pitchFamily="34" charset="0"/>
                <a:ea typeface="Montserrat" pitchFamily="34" charset="-122"/>
                <a:cs typeface="Montserrat" pitchFamily="34" charset="-120"/>
              </a:rPr>
              <a:t>Why This Matters.</a:t>
            </a:r>
            <a:endParaRPr lang="en-US" sz="3300" dirty="0"/>
          </a:p>
        </p:txBody>
      </p:sp>
      <p:sp>
        <p:nvSpPr>
          <p:cNvPr id="4" name="Shape 2"/>
          <p:cNvSpPr/>
          <p:nvPr/>
        </p:nvSpPr>
        <p:spPr>
          <a:xfrm>
            <a:off x="640080" y="2057400"/>
            <a:ext cx="4892040" cy="1188720"/>
          </a:xfrm>
          <a:prstGeom prst="roundRect">
            <a:avLst>
              <a:gd name="adj" fmla="val 10769"/>
            </a:avLst>
          </a:prstGeom>
          <a:solidFill>
            <a:srgbClr val="10173D">
              <a:alpha val="88000"/>
            </a:srgbClr>
          </a:solidFill>
          <a:ln w="19050">
            <a:solidFill>
              <a:srgbClr val="00F0FF"/>
            </a:solidFill>
            <a:prstDash val="solid"/>
          </a:ln>
          <a:effectLst>
            <a:outerShdw sx="100000" sy="100000" kx="0" ky="0" algn="bl" rotWithShape="0" blurRad="203200" dist="50800" dir="16200000">
              <a:srgbClr val="00F0FF">
                <a:alpha val="45000"/>
              </a:srgbClr>
            </a:outerShdw>
          </a:effectLst>
        </p:spPr>
      </p:sp>
      <p:pic>
        <p:nvPicPr>
          <p:cNvPr id="5" name="Image 0" descr="icon_clock.png">    </p:cNvPr>
          <p:cNvPicPr>
            <a:picLocks noChangeAspect="1"/>
          </p:cNvPicPr>
          <p:nvPr/>
        </p:nvPicPr>
        <p:blipFill>
          <a:blip r:embed="rId2"/>
          <a:stretch>
            <a:fillRect/>
          </a:stretch>
        </p:blipFill>
        <p:spPr>
          <a:xfrm>
            <a:off x="804672" y="2276856"/>
            <a:ext cx="749808" cy="749808"/>
          </a:xfrm>
          <a:prstGeom prst="rect">
            <a:avLst/>
          </a:prstGeom>
        </p:spPr>
      </p:pic>
      <p:sp>
        <p:nvSpPr>
          <p:cNvPr id="6" name="Text 3"/>
          <p:cNvSpPr/>
          <p:nvPr/>
        </p:nvSpPr>
        <p:spPr>
          <a:xfrm>
            <a:off x="1691640" y="2221992"/>
            <a:ext cx="3657600" cy="502920"/>
          </a:xfrm>
          <a:prstGeom prst="rect">
            <a:avLst/>
          </a:prstGeom>
          <a:noFill/>
          <a:ln/>
        </p:spPr>
        <p:txBody>
          <a:bodyPr wrap="square" rtlCol="0" anchor="ctr"/>
          <a:lstStyle/>
          <a:p>
            <a:pPr indent="0" marL="0">
              <a:buNone/>
            </a:pPr>
            <a:r>
              <a:rPr lang="en-US" sz="2400" b="1" dirty="0">
                <a:solidFill>
                  <a:srgbClr val="00F0FF"/>
                </a:solidFill>
                <a:effectLst>
                  <a:glow rad="76200">
                    <a:srgbClr val="00F0FF">
                      <a:alpha val="45000"/>
                    </a:srgbClr>
                  </a:glow>
                </a:effectLst>
                <a:latin typeface="Montserrat" pitchFamily="34" charset="0"/>
                <a:ea typeface="Montserrat" pitchFamily="34" charset="-122"/>
                <a:cs typeface="Montserrat" pitchFamily="34" charset="-120"/>
              </a:rPr>
              <a:t>3 weeks → 60s</a:t>
            </a:r>
            <a:endParaRPr lang="en-US" sz="2400" dirty="0"/>
          </a:p>
        </p:txBody>
      </p:sp>
      <p:sp>
        <p:nvSpPr>
          <p:cNvPr id="7" name="Text 4"/>
          <p:cNvSpPr/>
          <p:nvPr/>
        </p:nvSpPr>
        <p:spPr>
          <a:xfrm>
            <a:off x="1691640" y="2734056"/>
            <a:ext cx="3657600" cy="365760"/>
          </a:xfrm>
          <a:prstGeom prst="rect">
            <a:avLst/>
          </a:prstGeom>
          <a:noFill/>
          <a:ln/>
        </p:spPr>
        <p:txBody>
          <a:bodyPr wrap="square" rtlCol="0" anchor="ctr"/>
          <a:lstStyle/>
          <a:p>
            <a:pPr indent="0" marL="0">
              <a:buNone/>
            </a:pPr>
            <a:r>
              <a:rPr lang="en-US" sz="1300" dirty="0">
                <a:solidFill>
                  <a:srgbClr val="9AA6D6"/>
                </a:solidFill>
                <a:latin typeface="Arial" pitchFamily="34" charset="0"/>
                <a:ea typeface="Arial" pitchFamily="34" charset="-122"/>
                <a:cs typeface="Arial" pitchFamily="34" charset="-120"/>
              </a:rPr>
              <a:t>Time to a GTM plan</a:t>
            </a:r>
            <a:endParaRPr lang="en-US" sz="1300" dirty="0"/>
          </a:p>
        </p:txBody>
      </p:sp>
      <p:sp>
        <p:nvSpPr>
          <p:cNvPr id="8" name="Shape 5"/>
          <p:cNvSpPr/>
          <p:nvPr/>
        </p:nvSpPr>
        <p:spPr>
          <a:xfrm>
            <a:off x="640080" y="3429000"/>
            <a:ext cx="4892040" cy="1188720"/>
          </a:xfrm>
          <a:prstGeom prst="roundRect">
            <a:avLst>
              <a:gd name="adj" fmla="val 10769"/>
            </a:avLst>
          </a:prstGeom>
          <a:solidFill>
            <a:srgbClr val="10173D">
              <a:alpha val="88000"/>
            </a:srgbClr>
          </a:solidFill>
          <a:ln w="19050">
            <a:solidFill>
              <a:srgbClr val="00FF00"/>
            </a:solidFill>
            <a:prstDash val="solid"/>
          </a:ln>
          <a:effectLst>
            <a:outerShdw sx="100000" sy="100000" kx="0" ky="0" algn="bl" rotWithShape="0" blurRad="203200" dist="50800" dir="16200000">
              <a:srgbClr val="00FF00">
                <a:alpha val="45000"/>
              </a:srgbClr>
            </a:outerShdw>
          </a:effectLst>
        </p:spPr>
      </p:sp>
      <p:pic>
        <p:nvPicPr>
          <p:cNvPr id="9" name="Image 1" descr="icon_brainmoney.png">    </p:cNvPr>
          <p:cNvPicPr>
            <a:picLocks noChangeAspect="1"/>
          </p:cNvPicPr>
          <p:nvPr/>
        </p:nvPicPr>
        <p:blipFill>
          <a:blip r:embed="rId3"/>
          <a:stretch>
            <a:fillRect/>
          </a:stretch>
        </p:blipFill>
        <p:spPr>
          <a:xfrm>
            <a:off x="804672" y="3648456"/>
            <a:ext cx="749808" cy="749808"/>
          </a:xfrm>
          <a:prstGeom prst="rect">
            <a:avLst/>
          </a:prstGeom>
        </p:spPr>
      </p:pic>
      <p:sp>
        <p:nvSpPr>
          <p:cNvPr id="10" name="Text 6"/>
          <p:cNvSpPr/>
          <p:nvPr/>
        </p:nvSpPr>
        <p:spPr>
          <a:xfrm>
            <a:off x="1691640" y="3593592"/>
            <a:ext cx="3657600" cy="502920"/>
          </a:xfrm>
          <a:prstGeom prst="rect">
            <a:avLst/>
          </a:prstGeom>
          <a:noFill/>
          <a:ln/>
        </p:spPr>
        <p:txBody>
          <a:bodyPr wrap="square" rtlCol="0" anchor="ctr"/>
          <a:lstStyle/>
          <a:p>
            <a:pPr indent="0" marL="0">
              <a:buNone/>
            </a:pPr>
            <a:r>
              <a:rPr lang="en-US" sz="2400" b="1" dirty="0">
                <a:solidFill>
                  <a:srgbClr val="00FF00"/>
                </a:solidFill>
                <a:effectLst>
                  <a:glow rad="76200">
                    <a:srgbClr val="00FF00">
                      <a:alpha val="45000"/>
                    </a:srgbClr>
                  </a:glow>
                </a:effectLst>
                <a:latin typeface="Montserrat" pitchFamily="34" charset="0"/>
                <a:ea typeface="Montserrat" pitchFamily="34" charset="-122"/>
                <a:cs typeface="Montserrat" pitchFamily="34" charset="-120"/>
              </a:rPr>
              <a:t>$15k → $49</a:t>
            </a:r>
            <a:endParaRPr lang="en-US" sz="2400" dirty="0"/>
          </a:p>
        </p:txBody>
      </p:sp>
      <p:sp>
        <p:nvSpPr>
          <p:cNvPr id="11" name="Text 7"/>
          <p:cNvSpPr/>
          <p:nvPr/>
        </p:nvSpPr>
        <p:spPr>
          <a:xfrm>
            <a:off x="1691640" y="4105656"/>
            <a:ext cx="3657600" cy="365760"/>
          </a:xfrm>
          <a:prstGeom prst="rect">
            <a:avLst/>
          </a:prstGeom>
          <a:noFill/>
          <a:ln/>
        </p:spPr>
        <p:txBody>
          <a:bodyPr wrap="square" rtlCol="0" anchor="ctr"/>
          <a:lstStyle/>
          <a:p>
            <a:pPr indent="0" marL="0">
              <a:buNone/>
            </a:pPr>
            <a:r>
              <a:rPr lang="en-US" sz="1300" dirty="0">
                <a:solidFill>
                  <a:srgbClr val="9AA6D6"/>
                </a:solidFill>
                <a:latin typeface="Arial" pitchFamily="34" charset="0"/>
                <a:ea typeface="Arial" pitchFamily="34" charset="-122"/>
                <a:cs typeface="Arial" pitchFamily="34" charset="-120"/>
              </a:rPr>
              <a:t>Cost vs. a consultant</a:t>
            </a:r>
            <a:endParaRPr lang="en-US" sz="1300" dirty="0"/>
          </a:p>
        </p:txBody>
      </p:sp>
      <p:sp>
        <p:nvSpPr>
          <p:cNvPr id="12" name="Shape 8"/>
          <p:cNvSpPr/>
          <p:nvPr/>
        </p:nvSpPr>
        <p:spPr>
          <a:xfrm>
            <a:off x="640080" y="4800600"/>
            <a:ext cx="4892040" cy="1188720"/>
          </a:xfrm>
          <a:prstGeom prst="roundRect">
            <a:avLst>
              <a:gd name="adj" fmla="val 10769"/>
            </a:avLst>
          </a:prstGeom>
          <a:solidFill>
            <a:srgbClr val="10173D">
              <a:alpha val="88000"/>
            </a:srgbClr>
          </a:solidFill>
          <a:ln w="19050">
            <a:solidFill>
              <a:srgbClr val="FF00FF"/>
            </a:solidFill>
            <a:prstDash val="solid"/>
          </a:ln>
          <a:effectLst>
            <a:outerShdw sx="100000" sy="100000" kx="0" ky="0" algn="bl" rotWithShape="0" blurRad="203200" dist="50800" dir="16200000">
              <a:srgbClr val="FF00FF">
                <a:alpha val="45000"/>
              </a:srgbClr>
            </a:outerShdw>
          </a:effectLst>
        </p:spPr>
      </p:sp>
      <p:pic>
        <p:nvPicPr>
          <p:cNvPr id="13" name="Image 2" descr="icon_shield.png">    </p:cNvPr>
          <p:cNvPicPr>
            <a:picLocks noChangeAspect="1"/>
          </p:cNvPicPr>
          <p:nvPr/>
        </p:nvPicPr>
        <p:blipFill>
          <a:blip r:embed="rId4"/>
          <a:stretch>
            <a:fillRect/>
          </a:stretch>
        </p:blipFill>
        <p:spPr>
          <a:xfrm>
            <a:off x="804672" y="5020056"/>
            <a:ext cx="749808" cy="749808"/>
          </a:xfrm>
          <a:prstGeom prst="rect">
            <a:avLst/>
          </a:prstGeom>
        </p:spPr>
      </p:pic>
      <p:sp>
        <p:nvSpPr>
          <p:cNvPr id="14" name="Text 9"/>
          <p:cNvSpPr/>
          <p:nvPr/>
        </p:nvSpPr>
        <p:spPr>
          <a:xfrm>
            <a:off x="1691640" y="4965192"/>
            <a:ext cx="3657600" cy="502920"/>
          </a:xfrm>
          <a:prstGeom prst="rect">
            <a:avLst/>
          </a:prstGeom>
          <a:noFill/>
          <a:ln/>
        </p:spPr>
        <p:txBody>
          <a:bodyPr wrap="square" rtlCol="0" anchor="ctr"/>
          <a:lstStyle/>
          <a:p>
            <a:pPr indent="0" marL="0">
              <a:buNone/>
            </a:pPr>
            <a:r>
              <a:rPr lang="en-US" sz="2400" b="1" dirty="0">
                <a:solidFill>
                  <a:srgbClr val="FF00FF"/>
                </a:solidFill>
                <a:effectLst>
                  <a:glow rad="76200">
                    <a:srgbClr val="FF00FF">
                      <a:alpha val="45000"/>
                    </a:srgbClr>
                  </a:glow>
                </a:effectLst>
                <a:latin typeface="Montserrat" pitchFamily="34" charset="0"/>
                <a:ea typeface="Montserrat" pitchFamily="34" charset="-122"/>
                <a:cs typeface="Montserrat" pitchFamily="34" charset="-120"/>
              </a:rPr>
              <a:t>+30%</a:t>
            </a:r>
            <a:endParaRPr lang="en-US" sz="2400" dirty="0"/>
          </a:p>
        </p:txBody>
      </p:sp>
      <p:sp>
        <p:nvSpPr>
          <p:cNvPr id="15" name="Text 10"/>
          <p:cNvSpPr/>
          <p:nvPr/>
        </p:nvSpPr>
        <p:spPr>
          <a:xfrm>
            <a:off x="1691640" y="5477256"/>
            <a:ext cx="3657600" cy="365760"/>
          </a:xfrm>
          <a:prstGeom prst="rect">
            <a:avLst/>
          </a:prstGeom>
          <a:noFill/>
          <a:ln/>
        </p:spPr>
        <p:txBody>
          <a:bodyPr wrap="square" rtlCol="0" anchor="ctr"/>
          <a:lstStyle/>
          <a:p>
            <a:pPr indent="0" marL="0">
              <a:buNone/>
            </a:pPr>
            <a:r>
              <a:rPr lang="en-US" sz="1300" dirty="0">
                <a:solidFill>
                  <a:srgbClr val="9AA6D6"/>
                </a:solidFill>
                <a:latin typeface="Arial" pitchFamily="34" charset="0"/>
                <a:ea typeface="Arial" pitchFamily="34" charset="-122"/>
                <a:cs typeface="Arial" pitchFamily="34" charset="-120"/>
              </a:rPr>
              <a:t>Modeled survival lift</a:t>
            </a:r>
            <a:endParaRPr lang="en-US" sz="1300" dirty="0"/>
          </a:p>
        </p:txBody>
      </p:sp>
      <p:sp>
        <p:nvSpPr>
          <p:cNvPr id="16" name="Text 11"/>
          <p:cNvSpPr/>
          <p:nvPr/>
        </p:nvSpPr>
        <p:spPr>
          <a:xfrm>
            <a:off x="5943600" y="1874520"/>
            <a:ext cx="5669280" cy="320040"/>
          </a:xfrm>
          <a:prstGeom prst="rect">
            <a:avLst/>
          </a:prstGeom>
          <a:noFill/>
          <a:ln/>
        </p:spPr>
        <p:txBody>
          <a:bodyPr wrap="square" rtlCol="0" anchor="ctr"/>
          <a:lstStyle/>
          <a:p>
            <a:pPr algn="ctr" indent="0" marL="0">
              <a:buNone/>
            </a:pPr>
            <a:r>
              <a:rPr lang="en-US" sz="1300" b="1" spc="200" kern="0"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COST OF A GTM PLAN</a:t>
            </a:r>
            <a:endParaRPr lang="en-US" sz="1300" dirty="0"/>
          </a:p>
        </p:txBody>
      </p:sp>
      <p:graphicFrame>
        <p:nvGraphicFramePr>
          <p:cNvPr id="17" name="Chart 0" descr=""/>
          <p:cNvGraphicFramePr/>
          <p:nvPr/>
        </p:nvGraphicFramePr>
        <p:xfrm>
          <a:off x="5943600" y="2194560"/>
          <a:ext cx="5760720" cy="3840480"/>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rtlCol="0" anchor="ctr"/>
          <a:lstStyle/>
          <a:p>
            <a:pPr algn="l" indent="0" marL="0">
              <a:buNone/>
            </a:pPr>
            <a:r>
              <a:rPr lang="en-US" sz="1300" b="1" spc="300" kern="0" dirty="0">
                <a:solidFill>
                  <a:srgbClr val="00F0FF"/>
                </a:solidFill>
                <a:effectLst>
                  <a:glow rad="101600">
                    <a:srgbClr val="00F0FF">
                      <a:alpha val="50000"/>
                    </a:srgbClr>
                  </a:glow>
                </a:effectLst>
                <a:latin typeface="Montserrat" pitchFamily="34" charset="0"/>
                <a:ea typeface="Montserrat" pitchFamily="34" charset="-122"/>
                <a:cs typeface="Montserrat" pitchFamily="34" charset="-120"/>
              </a:rPr>
              <a:t>THE ASK</a:t>
            </a:r>
            <a:endParaRPr lang="en-US" sz="1300" dirty="0"/>
          </a:p>
        </p:txBody>
      </p:sp>
      <p:sp>
        <p:nvSpPr>
          <p:cNvPr id="3" name="Text 1"/>
          <p:cNvSpPr/>
          <p:nvPr/>
        </p:nvSpPr>
        <p:spPr>
          <a:xfrm>
            <a:off x="603504" y="676656"/>
            <a:ext cx="10881360" cy="868680"/>
          </a:xfrm>
          <a:prstGeom prst="rect">
            <a:avLst/>
          </a:prstGeom>
          <a:noFill/>
          <a:ln/>
        </p:spPr>
        <p:txBody>
          <a:bodyPr wrap="square" rtlCol="0" anchor="ctr"/>
          <a:lstStyle/>
          <a:p>
            <a:pPr algn="l" indent="0" marL="0">
              <a:buNone/>
            </a:pPr>
            <a:r>
              <a:rPr lang="en-US" sz="3300" b="1" dirty="0">
                <a:solidFill>
                  <a:srgbClr val="FFFFFF"/>
                </a:solidFill>
                <a:effectLst>
                  <a:glow rad="127000">
                    <a:srgbClr val="00F0FF">
                      <a:alpha val="45000"/>
                    </a:srgbClr>
                  </a:glow>
                </a:effectLst>
                <a:latin typeface="Montserrat" pitchFamily="34" charset="0"/>
                <a:ea typeface="Montserrat" pitchFamily="34" charset="-122"/>
                <a:cs typeface="Montserrat" pitchFamily="34" charset="-120"/>
              </a:rPr>
              <a:t>What's Next?</a:t>
            </a:r>
            <a:endParaRPr lang="en-US" sz="3300" dirty="0"/>
          </a:p>
        </p:txBody>
      </p:sp>
      <p:sp>
        <p:nvSpPr>
          <p:cNvPr id="4" name="Shape 2"/>
          <p:cNvSpPr/>
          <p:nvPr/>
        </p:nvSpPr>
        <p:spPr>
          <a:xfrm>
            <a:off x="1005840" y="3794760"/>
            <a:ext cx="10149840" cy="45720"/>
          </a:xfrm>
          <a:prstGeom prst="roundRect">
            <a:avLst>
              <a:gd name="adj" fmla="val 40000"/>
            </a:avLst>
          </a:prstGeom>
          <a:solidFill>
            <a:srgbClr val="00F0FF">
              <a:alpha val="70000"/>
            </a:srgbClr>
          </a:solidFill>
          <a:ln/>
          <a:effectLst>
            <a:outerShdw sx="100000" sy="100000" kx="0" ky="0" algn="bl" rotWithShape="0" blurRad="127000" dist="50800" dir="16200000">
              <a:srgbClr val="00F0FF">
                <a:alpha val="60000"/>
              </a:srgbClr>
            </a:outerShdw>
          </a:effectLst>
        </p:spPr>
      </p:sp>
      <p:sp>
        <p:nvSpPr>
          <p:cNvPr id="5" name="Shape 3"/>
          <p:cNvSpPr/>
          <p:nvPr/>
        </p:nvSpPr>
        <p:spPr>
          <a:xfrm>
            <a:off x="1953616" y="3630168"/>
            <a:ext cx="329184" cy="329184"/>
          </a:xfrm>
          <a:prstGeom prst="ellipse">
            <a:avLst/>
          </a:prstGeom>
          <a:solidFill>
            <a:srgbClr val="00F0FF"/>
          </a:solidFill>
          <a:ln w="12700">
            <a:solidFill>
              <a:srgbClr val="FFFFFF"/>
            </a:solidFill>
            <a:prstDash val="solid"/>
          </a:ln>
          <a:effectLst>
            <a:outerShdw sx="100000" sy="100000" kx="0" ky="0" algn="bl" rotWithShape="0" blurRad="203200" dist="50800" dir="16200000">
              <a:srgbClr val="00F0FF">
                <a:alpha val="85000"/>
              </a:srgbClr>
            </a:outerShdw>
          </a:effectLst>
        </p:spPr>
      </p:sp>
      <p:sp>
        <p:nvSpPr>
          <p:cNvPr id="6" name="Shape 4"/>
          <p:cNvSpPr/>
          <p:nvPr/>
        </p:nvSpPr>
        <p:spPr>
          <a:xfrm>
            <a:off x="952348" y="1965960"/>
            <a:ext cx="2331720" cy="1481328"/>
          </a:xfrm>
          <a:prstGeom prst="roundRect">
            <a:avLst>
              <a:gd name="adj" fmla="val 8642"/>
            </a:avLst>
          </a:prstGeom>
          <a:solidFill>
            <a:srgbClr val="10173D">
              <a:alpha val="88000"/>
            </a:srgbClr>
          </a:solidFill>
          <a:ln w="19050">
            <a:solidFill>
              <a:srgbClr val="00F0FF"/>
            </a:solidFill>
            <a:prstDash val="solid"/>
          </a:ln>
          <a:effectLst>
            <a:outerShdw sx="100000" sy="100000" kx="0" ky="0" algn="bl" rotWithShape="0" blurRad="203200" dist="50800" dir="16200000">
              <a:srgbClr val="00F0FF">
                <a:alpha val="50000"/>
              </a:srgbClr>
            </a:outerShdw>
          </a:effectLst>
        </p:spPr>
      </p:sp>
      <p:pic>
        <p:nvPicPr>
          <p:cNvPr id="7" name="Image 0" descr="icon_flask.png">    </p:cNvPr>
          <p:cNvPicPr>
            <a:picLocks noChangeAspect="1"/>
          </p:cNvPicPr>
          <p:nvPr/>
        </p:nvPicPr>
        <p:blipFill>
          <a:blip r:embed="rId2"/>
          <a:stretch>
            <a:fillRect/>
          </a:stretch>
        </p:blipFill>
        <p:spPr>
          <a:xfrm>
            <a:off x="1116940" y="2148840"/>
            <a:ext cx="530352" cy="530352"/>
          </a:xfrm>
          <a:prstGeom prst="rect">
            <a:avLst/>
          </a:prstGeom>
        </p:spPr>
      </p:pic>
      <p:sp>
        <p:nvSpPr>
          <p:cNvPr id="8" name="Text 5"/>
          <p:cNvSpPr/>
          <p:nvPr/>
        </p:nvSpPr>
        <p:spPr>
          <a:xfrm>
            <a:off x="1683868" y="2148840"/>
            <a:ext cx="1508760" cy="347472"/>
          </a:xfrm>
          <a:prstGeom prst="rect">
            <a:avLst/>
          </a:prstGeom>
          <a:noFill/>
          <a:ln/>
        </p:spPr>
        <p:txBody>
          <a:bodyPr wrap="square" rtlCol="0" anchor="ctr"/>
          <a:lstStyle/>
          <a:p>
            <a:pPr indent="0" marL="0">
              <a:buNone/>
            </a:pPr>
            <a:r>
              <a:rPr lang="en-US" sz="1400" b="1"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MVP</a:t>
            </a:r>
            <a:endParaRPr lang="en-US" sz="1400" dirty="0"/>
          </a:p>
        </p:txBody>
      </p:sp>
      <p:sp>
        <p:nvSpPr>
          <p:cNvPr id="9" name="Text 6"/>
          <p:cNvSpPr/>
          <p:nvPr/>
        </p:nvSpPr>
        <p:spPr>
          <a:xfrm>
            <a:off x="1683868" y="2478024"/>
            <a:ext cx="1508760" cy="274320"/>
          </a:xfrm>
          <a:prstGeom prst="rect">
            <a:avLst/>
          </a:prstGeom>
          <a:noFill/>
          <a:ln/>
        </p:spPr>
        <p:txBody>
          <a:bodyPr wrap="square" rtlCol="0" anchor="ctr"/>
          <a:lstStyle/>
          <a:p>
            <a:pPr indent="0" marL="0">
              <a:buNone/>
            </a:pPr>
            <a:r>
              <a:rPr lang="en-US" sz="1100" b="1" dirty="0">
                <a:solidFill>
                  <a:srgbClr val="9AA6D6"/>
                </a:solidFill>
                <a:latin typeface="Arial" pitchFamily="34" charset="0"/>
                <a:ea typeface="Arial" pitchFamily="34" charset="-122"/>
                <a:cs typeface="Arial" pitchFamily="34" charset="-120"/>
              </a:rPr>
              <a:t>Now</a:t>
            </a:r>
            <a:endParaRPr lang="en-US" sz="1100" dirty="0"/>
          </a:p>
        </p:txBody>
      </p:sp>
      <p:sp>
        <p:nvSpPr>
          <p:cNvPr id="10" name="Text 7"/>
          <p:cNvSpPr/>
          <p:nvPr/>
        </p:nvSpPr>
        <p:spPr>
          <a:xfrm>
            <a:off x="1135228" y="2807208"/>
            <a:ext cx="1965960" cy="566928"/>
          </a:xfrm>
          <a:prstGeom prst="rect">
            <a:avLst/>
          </a:prstGeom>
          <a:noFill/>
          <a:ln/>
        </p:spPr>
        <p:txBody>
          <a:bodyPr wrap="square" rtlCol="0" anchor="ctr"/>
          <a:lstStyle/>
          <a:p>
            <a:pPr indent="0" marL="0">
              <a:lnSpc>
                <a:spcPct val="105000"/>
              </a:lnSpc>
              <a:buNone/>
            </a:pPr>
            <a:r>
              <a:rPr lang="en-US" sz="1100" dirty="0">
                <a:solidFill>
                  <a:srgbClr val="9AA6D6"/>
                </a:solidFill>
                <a:latin typeface="Arial" pitchFamily="34" charset="0"/>
                <a:ea typeface="Arial" pitchFamily="34" charset="-122"/>
                <a:cs typeface="Arial" pitchFamily="34" charset="-120"/>
              </a:rPr>
              <a:t>Core simulator live; 4-output GTM plan shipping.</a:t>
            </a:r>
            <a:endParaRPr lang="en-US" sz="1100" dirty="0"/>
          </a:p>
        </p:txBody>
      </p:sp>
      <p:sp>
        <p:nvSpPr>
          <p:cNvPr id="11" name="Shape 8"/>
          <p:cNvSpPr/>
          <p:nvPr/>
        </p:nvSpPr>
        <p:spPr>
          <a:xfrm>
            <a:off x="4605376" y="3630168"/>
            <a:ext cx="329184" cy="329184"/>
          </a:xfrm>
          <a:prstGeom prst="ellipse">
            <a:avLst/>
          </a:prstGeom>
          <a:solidFill>
            <a:srgbClr val="FF00FF"/>
          </a:solidFill>
          <a:ln w="12700">
            <a:solidFill>
              <a:srgbClr val="FFFFFF"/>
            </a:solidFill>
            <a:prstDash val="solid"/>
          </a:ln>
          <a:effectLst>
            <a:outerShdw sx="100000" sy="100000" kx="0" ky="0" algn="bl" rotWithShape="0" blurRad="203200" dist="50800" dir="16200000">
              <a:srgbClr val="FF00FF">
                <a:alpha val="85000"/>
              </a:srgbClr>
            </a:outerShdw>
          </a:effectLst>
        </p:spPr>
      </p:sp>
      <p:sp>
        <p:nvSpPr>
          <p:cNvPr id="12" name="Shape 9"/>
          <p:cNvSpPr/>
          <p:nvPr/>
        </p:nvSpPr>
        <p:spPr>
          <a:xfrm>
            <a:off x="3604108" y="4251960"/>
            <a:ext cx="2331720" cy="1481328"/>
          </a:xfrm>
          <a:prstGeom prst="roundRect">
            <a:avLst>
              <a:gd name="adj" fmla="val 8642"/>
            </a:avLst>
          </a:prstGeom>
          <a:solidFill>
            <a:srgbClr val="10173D">
              <a:alpha val="88000"/>
            </a:srgbClr>
          </a:solidFill>
          <a:ln w="19050">
            <a:solidFill>
              <a:srgbClr val="FF00FF"/>
            </a:solidFill>
            <a:prstDash val="solid"/>
          </a:ln>
          <a:effectLst>
            <a:outerShdw sx="100000" sy="100000" kx="0" ky="0" algn="bl" rotWithShape="0" blurRad="203200" dist="50800" dir="16200000">
              <a:srgbClr val="FF00FF">
                <a:alpha val="50000"/>
              </a:srgbClr>
            </a:outerShdw>
          </a:effectLst>
        </p:spPr>
      </p:sp>
      <p:pic>
        <p:nvPicPr>
          <p:cNvPr id="13" name="Image 1" descr="icon_users.png">    </p:cNvPr>
          <p:cNvPicPr>
            <a:picLocks noChangeAspect="1"/>
          </p:cNvPicPr>
          <p:nvPr/>
        </p:nvPicPr>
        <p:blipFill>
          <a:blip r:embed="rId3"/>
          <a:stretch>
            <a:fillRect/>
          </a:stretch>
        </p:blipFill>
        <p:spPr>
          <a:xfrm>
            <a:off x="3768700" y="4434840"/>
            <a:ext cx="530352" cy="530352"/>
          </a:xfrm>
          <a:prstGeom prst="rect">
            <a:avLst/>
          </a:prstGeom>
        </p:spPr>
      </p:pic>
      <p:sp>
        <p:nvSpPr>
          <p:cNvPr id="14" name="Text 10"/>
          <p:cNvSpPr/>
          <p:nvPr/>
        </p:nvSpPr>
        <p:spPr>
          <a:xfrm>
            <a:off x="4335628" y="4434840"/>
            <a:ext cx="1508760" cy="347472"/>
          </a:xfrm>
          <a:prstGeom prst="rect">
            <a:avLst/>
          </a:prstGeom>
          <a:noFill/>
          <a:ln/>
        </p:spPr>
        <p:txBody>
          <a:bodyPr wrap="square" rtlCol="0" anchor="ctr"/>
          <a:lstStyle/>
          <a:p>
            <a:pPr indent="0" marL="0">
              <a:buNone/>
            </a:pPr>
            <a:r>
              <a:rPr lang="en-US" sz="1400" b="1" dirty="0">
                <a:solidFill>
                  <a:srgbClr val="FF00FF"/>
                </a:solidFill>
                <a:effectLst>
                  <a:glow rad="76200">
                    <a:srgbClr val="FF00FF">
                      <a:alpha val="40000"/>
                    </a:srgbClr>
                  </a:glow>
                </a:effectLst>
                <a:latin typeface="Montserrat" pitchFamily="34" charset="0"/>
                <a:ea typeface="Montserrat" pitchFamily="34" charset="-122"/>
                <a:cs typeface="Montserrat" pitchFamily="34" charset="-120"/>
              </a:rPr>
              <a:t>Beta</a:t>
            </a:r>
            <a:endParaRPr lang="en-US" sz="1400" dirty="0"/>
          </a:p>
        </p:txBody>
      </p:sp>
      <p:sp>
        <p:nvSpPr>
          <p:cNvPr id="15" name="Text 11"/>
          <p:cNvSpPr/>
          <p:nvPr/>
        </p:nvSpPr>
        <p:spPr>
          <a:xfrm>
            <a:off x="4335628" y="4764024"/>
            <a:ext cx="1508760" cy="274320"/>
          </a:xfrm>
          <a:prstGeom prst="rect">
            <a:avLst/>
          </a:prstGeom>
          <a:noFill/>
          <a:ln/>
        </p:spPr>
        <p:txBody>
          <a:bodyPr wrap="square" rtlCol="0" anchor="ctr"/>
          <a:lstStyle/>
          <a:p>
            <a:pPr indent="0" marL="0">
              <a:buNone/>
            </a:pPr>
            <a:r>
              <a:rPr lang="en-US" sz="1100" b="1" dirty="0">
                <a:solidFill>
                  <a:srgbClr val="9AA6D6"/>
                </a:solidFill>
                <a:latin typeface="Arial" pitchFamily="34" charset="0"/>
                <a:ea typeface="Arial" pitchFamily="34" charset="-122"/>
                <a:cs typeface="Arial" pitchFamily="34" charset="-120"/>
              </a:rPr>
              <a:t>Q3 2026</a:t>
            </a:r>
            <a:endParaRPr lang="en-US" sz="1100" dirty="0"/>
          </a:p>
        </p:txBody>
      </p:sp>
      <p:sp>
        <p:nvSpPr>
          <p:cNvPr id="16" name="Text 12"/>
          <p:cNvSpPr/>
          <p:nvPr/>
        </p:nvSpPr>
        <p:spPr>
          <a:xfrm>
            <a:off x="3786988" y="5093208"/>
            <a:ext cx="1965960" cy="566928"/>
          </a:xfrm>
          <a:prstGeom prst="rect">
            <a:avLst/>
          </a:prstGeom>
          <a:noFill/>
          <a:ln/>
        </p:spPr>
        <p:txBody>
          <a:bodyPr wrap="square" rtlCol="0" anchor="ctr"/>
          <a:lstStyle/>
          <a:p>
            <a:pPr indent="0" marL="0">
              <a:lnSpc>
                <a:spcPct val="105000"/>
              </a:lnSpc>
              <a:buNone/>
            </a:pPr>
            <a:r>
              <a:rPr lang="en-US" sz="1100" dirty="0">
                <a:solidFill>
                  <a:srgbClr val="9AA6D6"/>
                </a:solidFill>
                <a:latin typeface="Arial" pitchFamily="34" charset="0"/>
                <a:ea typeface="Arial" pitchFamily="34" charset="-122"/>
                <a:cs typeface="Arial" pitchFamily="34" charset="-120"/>
              </a:rPr>
              <a:t>500 founders, feedback loop, funnel simulation v2.</a:t>
            </a:r>
            <a:endParaRPr lang="en-US" sz="1100" dirty="0"/>
          </a:p>
        </p:txBody>
      </p:sp>
      <p:sp>
        <p:nvSpPr>
          <p:cNvPr id="17" name="Shape 13"/>
          <p:cNvSpPr/>
          <p:nvPr/>
        </p:nvSpPr>
        <p:spPr>
          <a:xfrm>
            <a:off x="7257136" y="3630168"/>
            <a:ext cx="329184" cy="329184"/>
          </a:xfrm>
          <a:prstGeom prst="ellipse">
            <a:avLst/>
          </a:prstGeom>
          <a:solidFill>
            <a:srgbClr val="00FF00"/>
          </a:solidFill>
          <a:ln w="12700">
            <a:solidFill>
              <a:srgbClr val="FFFFFF"/>
            </a:solidFill>
            <a:prstDash val="solid"/>
          </a:ln>
          <a:effectLst>
            <a:outerShdw sx="100000" sy="100000" kx="0" ky="0" algn="bl" rotWithShape="0" blurRad="203200" dist="50800" dir="16200000">
              <a:srgbClr val="00FF00">
                <a:alpha val="85000"/>
              </a:srgbClr>
            </a:outerShdw>
          </a:effectLst>
        </p:spPr>
      </p:sp>
      <p:sp>
        <p:nvSpPr>
          <p:cNvPr id="18" name="Shape 14"/>
          <p:cNvSpPr/>
          <p:nvPr/>
        </p:nvSpPr>
        <p:spPr>
          <a:xfrm>
            <a:off x="6255868" y="1965960"/>
            <a:ext cx="2331720" cy="1481328"/>
          </a:xfrm>
          <a:prstGeom prst="roundRect">
            <a:avLst>
              <a:gd name="adj" fmla="val 8642"/>
            </a:avLst>
          </a:prstGeom>
          <a:solidFill>
            <a:srgbClr val="10173D">
              <a:alpha val="88000"/>
            </a:srgbClr>
          </a:solidFill>
          <a:ln w="19050">
            <a:solidFill>
              <a:srgbClr val="00FF00"/>
            </a:solidFill>
            <a:prstDash val="solid"/>
          </a:ln>
          <a:effectLst>
            <a:outerShdw sx="100000" sy="100000" kx="0" ky="0" algn="bl" rotWithShape="0" blurRad="203200" dist="50800" dir="16200000">
              <a:srgbClr val="00FF00">
                <a:alpha val="50000"/>
              </a:srgbClr>
            </a:outerShdw>
          </a:effectLst>
        </p:spPr>
      </p:sp>
      <p:pic>
        <p:nvPicPr>
          <p:cNvPr id="19" name="Image 2" descr="icon_seedling.png">    </p:cNvPr>
          <p:cNvPicPr>
            <a:picLocks noChangeAspect="1"/>
          </p:cNvPicPr>
          <p:nvPr/>
        </p:nvPicPr>
        <p:blipFill>
          <a:blip r:embed="rId4"/>
          <a:stretch>
            <a:fillRect/>
          </a:stretch>
        </p:blipFill>
        <p:spPr>
          <a:xfrm>
            <a:off x="6420460" y="2148840"/>
            <a:ext cx="530352" cy="530352"/>
          </a:xfrm>
          <a:prstGeom prst="rect">
            <a:avLst/>
          </a:prstGeom>
        </p:spPr>
      </p:pic>
      <p:sp>
        <p:nvSpPr>
          <p:cNvPr id="20" name="Text 15"/>
          <p:cNvSpPr/>
          <p:nvPr/>
        </p:nvSpPr>
        <p:spPr>
          <a:xfrm>
            <a:off x="6987388" y="2148840"/>
            <a:ext cx="1508760" cy="347472"/>
          </a:xfrm>
          <a:prstGeom prst="rect">
            <a:avLst/>
          </a:prstGeom>
          <a:noFill/>
          <a:ln/>
        </p:spPr>
        <p:txBody>
          <a:bodyPr wrap="square" rtlCol="0" anchor="ctr"/>
          <a:lstStyle/>
          <a:p>
            <a:pPr indent="0" marL="0">
              <a:buNone/>
            </a:pPr>
            <a:r>
              <a:rPr lang="en-US" sz="1400" b="1" dirty="0">
                <a:solidFill>
                  <a:srgbClr val="00FF00"/>
                </a:solidFill>
                <a:effectLst>
                  <a:glow rad="76200">
                    <a:srgbClr val="00FF00">
                      <a:alpha val="40000"/>
                    </a:srgbClr>
                  </a:glow>
                </a:effectLst>
                <a:latin typeface="Montserrat" pitchFamily="34" charset="0"/>
                <a:ea typeface="Montserrat" pitchFamily="34" charset="-122"/>
                <a:cs typeface="Montserrat" pitchFamily="34" charset="-120"/>
              </a:rPr>
              <a:t>Seed</a:t>
            </a:r>
            <a:endParaRPr lang="en-US" sz="1400" dirty="0"/>
          </a:p>
        </p:txBody>
      </p:sp>
      <p:sp>
        <p:nvSpPr>
          <p:cNvPr id="21" name="Text 16"/>
          <p:cNvSpPr/>
          <p:nvPr/>
        </p:nvSpPr>
        <p:spPr>
          <a:xfrm>
            <a:off x="6987388" y="2478024"/>
            <a:ext cx="1508760" cy="274320"/>
          </a:xfrm>
          <a:prstGeom prst="rect">
            <a:avLst/>
          </a:prstGeom>
          <a:noFill/>
          <a:ln/>
        </p:spPr>
        <p:txBody>
          <a:bodyPr wrap="square" rtlCol="0" anchor="ctr"/>
          <a:lstStyle/>
          <a:p>
            <a:pPr indent="0" marL="0">
              <a:buNone/>
            </a:pPr>
            <a:r>
              <a:rPr lang="en-US" sz="1100" b="1" dirty="0">
                <a:solidFill>
                  <a:srgbClr val="9AA6D6"/>
                </a:solidFill>
                <a:latin typeface="Arial" pitchFamily="34" charset="0"/>
                <a:ea typeface="Arial" pitchFamily="34" charset="-122"/>
                <a:cs typeface="Arial" pitchFamily="34" charset="-120"/>
              </a:rPr>
              <a:t>Q4 2026</a:t>
            </a:r>
            <a:endParaRPr lang="en-US" sz="1100" dirty="0"/>
          </a:p>
        </p:txBody>
      </p:sp>
      <p:sp>
        <p:nvSpPr>
          <p:cNvPr id="22" name="Text 17"/>
          <p:cNvSpPr/>
          <p:nvPr/>
        </p:nvSpPr>
        <p:spPr>
          <a:xfrm>
            <a:off x="6438748" y="2807208"/>
            <a:ext cx="1965960" cy="566928"/>
          </a:xfrm>
          <a:prstGeom prst="rect">
            <a:avLst/>
          </a:prstGeom>
          <a:noFill/>
          <a:ln/>
        </p:spPr>
        <p:txBody>
          <a:bodyPr wrap="square" rtlCol="0" anchor="ctr"/>
          <a:lstStyle/>
          <a:p>
            <a:pPr indent="0" marL="0">
              <a:lnSpc>
                <a:spcPct val="105000"/>
              </a:lnSpc>
              <a:buNone/>
            </a:pPr>
            <a:r>
              <a:rPr lang="en-US" sz="1100" dirty="0">
                <a:solidFill>
                  <a:srgbClr val="9AA6D6"/>
                </a:solidFill>
                <a:latin typeface="Arial" pitchFamily="34" charset="0"/>
                <a:ea typeface="Arial" pitchFamily="34" charset="-122"/>
                <a:cs typeface="Arial" pitchFamily="34" charset="-120"/>
              </a:rPr>
              <a:t>Raising $1.2M to scale AI models + GTM data.</a:t>
            </a:r>
            <a:endParaRPr lang="en-US" sz="1100" dirty="0"/>
          </a:p>
        </p:txBody>
      </p:sp>
      <p:sp>
        <p:nvSpPr>
          <p:cNvPr id="23" name="Shape 18"/>
          <p:cNvSpPr/>
          <p:nvPr/>
        </p:nvSpPr>
        <p:spPr>
          <a:xfrm>
            <a:off x="9908896" y="3630168"/>
            <a:ext cx="329184" cy="329184"/>
          </a:xfrm>
          <a:prstGeom prst="ellipse">
            <a:avLst/>
          </a:prstGeom>
          <a:solidFill>
            <a:srgbClr val="00F0FF"/>
          </a:solidFill>
          <a:ln w="12700">
            <a:solidFill>
              <a:srgbClr val="FFFFFF"/>
            </a:solidFill>
            <a:prstDash val="solid"/>
          </a:ln>
          <a:effectLst>
            <a:outerShdw sx="100000" sy="100000" kx="0" ky="0" algn="bl" rotWithShape="0" blurRad="203200" dist="50800" dir="16200000">
              <a:srgbClr val="00F0FF">
                <a:alpha val="85000"/>
              </a:srgbClr>
            </a:outerShdw>
          </a:effectLst>
        </p:spPr>
      </p:sp>
      <p:sp>
        <p:nvSpPr>
          <p:cNvPr id="24" name="Shape 19"/>
          <p:cNvSpPr/>
          <p:nvPr/>
        </p:nvSpPr>
        <p:spPr>
          <a:xfrm>
            <a:off x="8907628" y="4251960"/>
            <a:ext cx="2331720" cy="1481328"/>
          </a:xfrm>
          <a:prstGeom prst="roundRect">
            <a:avLst>
              <a:gd name="adj" fmla="val 8642"/>
            </a:avLst>
          </a:prstGeom>
          <a:solidFill>
            <a:srgbClr val="10173D">
              <a:alpha val="88000"/>
            </a:srgbClr>
          </a:solidFill>
          <a:ln w="19050">
            <a:solidFill>
              <a:srgbClr val="00F0FF"/>
            </a:solidFill>
            <a:prstDash val="solid"/>
          </a:ln>
          <a:effectLst>
            <a:outerShdw sx="100000" sy="100000" kx="0" ky="0" algn="bl" rotWithShape="0" blurRad="203200" dist="50800" dir="16200000">
              <a:srgbClr val="00F0FF">
                <a:alpha val="50000"/>
              </a:srgbClr>
            </a:outerShdw>
          </a:effectLst>
        </p:spPr>
      </p:sp>
      <p:pic>
        <p:nvPicPr>
          <p:cNvPr id="25" name="Image 3" descr="icon_crown.png">    </p:cNvPr>
          <p:cNvPicPr>
            <a:picLocks noChangeAspect="1"/>
          </p:cNvPicPr>
          <p:nvPr/>
        </p:nvPicPr>
        <p:blipFill>
          <a:blip r:embed="rId5"/>
          <a:stretch>
            <a:fillRect/>
          </a:stretch>
        </p:blipFill>
        <p:spPr>
          <a:xfrm>
            <a:off x="9072220" y="4434840"/>
            <a:ext cx="530352" cy="530352"/>
          </a:xfrm>
          <a:prstGeom prst="rect">
            <a:avLst/>
          </a:prstGeom>
        </p:spPr>
      </p:pic>
      <p:sp>
        <p:nvSpPr>
          <p:cNvPr id="26" name="Text 20"/>
          <p:cNvSpPr/>
          <p:nvPr/>
        </p:nvSpPr>
        <p:spPr>
          <a:xfrm>
            <a:off x="9639148" y="4434840"/>
            <a:ext cx="1508760" cy="347472"/>
          </a:xfrm>
          <a:prstGeom prst="rect">
            <a:avLst/>
          </a:prstGeom>
          <a:noFill/>
          <a:ln/>
        </p:spPr>
        <p:txBody>
          <a:bodyPr wrap="square" rtlCol="0" anchor="ctr"/>
          <a:lstStyle/>
          <a:p>
            <a:pPr indent="0" marL="0">
              <a:buNone/>
            </a:pPr>
            <a:r>
              <a:rPr lang="en-US" sz="1400" b="1" dirty="0">
                <a:solidFill>
                  <a:srgbClr val="00F0FF"/>
                </a:solidFill>
                <a:effectLst>
                  <a:glow rad="76200">
                    <a:srgbClr val="00F0FF">
                      <a:alpha val="40000"/>
                    </a:srgbClr>
                  </a:glow>
                </a:effectLst>
                <a:latin typeface="Montserrat" pitchFamily="34" charset="0"/>
                <a:ea typeface="Montserrat" pitchFamily="34" charset="-122"/>
                <a:cs typeface="Montserrat" pitchFamily="34" charset="-120"/>
              </a:rPr>
              <a:t>Enterprise</a:t>
            </a:r>
            <a:endParaRPr lang="en-US" sz="1400" dirty="0"/>
          </a:p>
        </p:txBody>
      </p:sp>
      <p:sp>
        <p:nvSpPr>
          <p:cNvPr id="27" name="Text 21"/>
          <p:cNvSpPr/>
          <p:nvPr/>
        </p:nvSpPr>
        <p:spPr>
          <a:xfrm>
            <a:off x="9639148" y="4764024"/>
            <a:ext cx="1508760" cy="274320"/>
          </a:xfrm>
          <a:prstGeom prst="rect">
            <a:avLst/>
          </a:prstGeom>
          <a:noFill/>
          <a:ln/>
        </p:spPr>
        <p:txBody>
          <a:bodyPr wrap="square" rtlCol="0" anchor="ctr"/>
          <a:lstStyle/>
          <a:p>
            <a:pPr indent="0" marL="0">
              <a:buNone/>
            </a:pPr>
            <a:r>
              <a:rPr lang="en-US" sz="1100" b="1" dirty="0">
                <a:solidFill>
                  <a:srgbClr val="9AA6D6"/>
                </a:solidFill>
                <a:latin typeface="Arial" pitchFamily="34" charset="0"/>
                <a:ea typeface="Arial" pitchFamily="34" charset="-122"/>
                <a:cs typeface="Arial" pitchFamily="34" charset="-120"/>
              </a:rPr>
              <a:t>2027</a:t>
            </a:r>
            <a:endParaRPr lang="en-US" sz="1100" dirty="0"/>
          </a:p>
        </p:txBody>
      </p:sp>
      <p:sp>
        <p:nvSpPr>
          <p:cNvPr id="28" name="Text 22"/>
          <p:cNvSpPr/>
          <p:nvPr/>
        </p:nvSpPr>
        <p:spPr>
          <a:xfrm>
            <a:off x="9090508" y="5093208"/>
            <a:ext cx="1965960" cy="566928"/>
          </a:xfrm>
          <a:prstGeom prst="rect">
            <a:avLst/>
          </a:prstGeom>
          <a:noFill/>
          <a:ln/>
        </p:spPr>
        <p:txBody>
          <a:bodyPr wrap="square" rtlCol="0" anchor="ctr"/>
          <a:lstStyle/>
          <a:p>
            <a:pPr indent="0" marL="0">
              <a:lnSpc>
                <a:spcPct val="105000"/>
              </a:lnSpc>
              <a:buNone/>
            </a:pPr>
            <a:r>
              <a:rPr lang="en-US" sz="1100" dirty="0">
                <a:solidFill>
                  <a:srgbClr val="9AA6D6"/>
                </a:solidFill>
                <a:latin typeface="Arial" pitchFamily="34" charset="0"/>
                <a:ea typeface="Arial" pitchFamily="34" charset="-122"/>
                <a:cs typeface="Arial" pitchFamily="34" charset="-120"/>
              </a:rPr>
              <a:t>Team seats, integrations, agency white-label.</a:t>
            </a:r>
            <a:endParaRPr lang="en-US" sz="1100" dirty="0"/>
          </a:p>
        </p:txBody>
      </p:sp>
      <p:sp>
        <p:nvSpPr>
          <p:cNvPr id="29" name="Text 23"/>
          <p:cNvSpPr/>
          <p:nvPr/>
        </p:nvSpPr>
        <p:spPr>
          <a:xfrm>
            <a:off x="0" y="6080760"/>
            <a:ext cx="12191695" cy="411480"/>
          </a:xfrm>
          <a:prstGeom prst="rect">
            <a:avLst/>
          </a:prstGeom>
          <a:noFill/>
          <a:ln/>
        </p:spPr>
        <p:txBody>
          <a:bodyPr wrap="square" rtlCol="0" anchor="ctr"/>
          <a:lstStyle/>
          <a:p>
            <a:pPr algn="ctr" indent="0" marL="0">
              <a:buNone/>
            </a:pPr>
            <a:r>
              <a:rPr lang="en-US" sz="1500" i="1" dirty="0">
                <a:solidFill>
                  <a:srgbClr val="00FF00"/>
                </a:solidFill>
                <a:effectLst>
                  <a:glow rad="76200">
                    <a:srgbClr val="00FF00">
                      <a:alpha val="40000"/>
                    </a:srgbClr>
                  </a:glow>
                </a:effectLst>
                <a:latin typeface="Arial" pitchFamily="34" charset="0"/>
                <a:ea typeface="Arial" pitchFamily="34" charset="-122"/>
                <a:cs typeface="Arial" pitchFamily="34" charset="-120"/>
              </a:rPr>
              <a:t>The ask: $1.2M seed to reach 10,000 founders and build the GTM data moat.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737360"/>
            <a:ext cx="12191695" cy="1097280"/>
          </a:xfrm>
          <a:prstGeom prst="rect">
            <a:avLst/>
          </a:prstGeom>
          <a:noFill/>
          <a:ln/>
        </p:spPr>
        <p:txBody>
          <a:bodyPr wrap="square" rtlCol="0" anchor="ctr"/>
          <a:lstStyle/>
          <a:p>
            <a:pPr algn="ctr" indent="0" marL="0">
              <a:buNone/>
            </a:pPr>
            <a:r>
              <a:rPr lang="en-US" sz="7600" b="1" dirty="0">
                <a:solidFill>
                  <a:srgbClr val="FFFFFF"/>
                </a:solidFill>
                <a:effectLst>
                  <a:glow rad="228600">
                    <a:srgbClr val="FF00FF">
                      <a:alpha val="70000"/>
                    </a:srgbClr>
                  </a:glow>
                </a:effectLst>
                <a:latin typeface="Montserrat" pitchFamily="34" charset="0"/>
                <a:ea typeface="Montserrat" pitchFamily="34" charset="-122"/>
                <a:cs typeface="Montserrat" pitchFamily="34" charset="-120"/>
              </a:rPr>
              <a:t>Q&amp;A</a:t>
            </a:r>
            <a:endParaRPr lang="en-US" sz="7600" dirty="0"/>
          </a:p>
        </p:txBody>
      </p:sp>
      <p:sp>
        <p:nvSpPr>
          <p:cNvPr id="3" name="Text 1"/>
          <p:cNvSpPr/>
          <p:nvPr/>
        </p:nvSpPr>
        <p:spPr>
          <a:xfrm>
            <a:off x="0" y="2880360"/>
            <a:ext cx="12191695" cy="457200"/>
          </a:xfrm>
          <a:prstGeom prst="rect">
            <a:avLst/>
          </a:prstGeom>
          <a:noFill/>
          <a:ln/>
        </p:spPr>
        <p:txBody>
          <a:bodyPr wrap="square" rtlCol="0" anchor="ctr"/>
          <a:lstStyle/>
          <a:p>
            <a:pPr algn="ctr" indent="0" marL="0">
              <a:buNone/>
            </a:pPr>
            <a:r>
              <a:rPr lang="en-US" sz="1800" i="1" dirty="0">
                <a:solidFill>
                  <a:srgbClr val="00F0FF"/>
                </a:solidFill>
                <a:effectLst>
                  <a:glow rad="101600">
                    <a:srgbClr val="00F0FF">
                      <a:alpha val="50000"/>
                    </a:srgbClr>
                  </a:glow>
                </a:effectLst>
                <a:latin typeface="Arial" pitchFamily="34" charset="0"/>
                <a:ea typeface="Arial" pitchFamily="34" charset="-122"/>
                <a:cs typeface="Arial" pitchFamily="34" charset="-120"/>
              </a:rPr>
              <a:t>Let's build the future of go-to-market. Ask us anything.</a:t>
            </a:r>
            <a:endParaRPr lang="en-US" sz="1800" dirty="0"/>
          </a:p>
        </p:txBody>
      </p:sp>
      <p:sp>
        <p:nvSpPr>
          <p:cNvPr id="4" name="Shape 2"/>
          <p:cNvSpPr/>
          <p:nvPr/>
        </p:nvSpPr>
        <p:spPr>
          <a:xfrm>
            <a:off x="563728" y="3794760"/>
            <a:ext cx="3383280" cy="1600200"/>
          </a:xfrm>
          <a:prstGeom prst="roundRect">
            <a:avLst>
              <a:gd name="adj" fmla="val 8000"/>
            </a:avLst>
          </a:prstGeom>
          <a:solidFill>
            <a:srgbClr val="10173D">
              <a:alpha val="88000"/>
            </a:srgbClr>
          </a:solidFill>
          <a:ln w="19050">
            <a:solidFill>
              <a:srgbClr val="00F0FF"/>
            </a:solidFill>
            <a:prstDash val="solid"/>
          </a:ln>
          <a:effectLst>
            <a:outerShdw sx="100000" sy="100000" kx="0" ky="0" algn="bl" rotWithShape="0" blurRad="254000" dist="50800" dir="16200000">
              <a:srgbClr val="00F0FF">
                <a:alpha val="55000"/>
              </a:srgbClr>
            </a:outerShdw>
          </a:effectLst>
        </p:spPr>
      </p:sp>
      <p:sp>
        <p:nvSpPr>
          <p:cNvPr id="5" name="Shape 3"/>
          <p:cNvSpPr/>
          <p:nvPr/>
        </p:nvSpPr>
        <p:spPr>
          <a:xfrm>
            <a:off x="1752448" y="3995928"/>
            <a:ext cx="1005840" cy="1005840"/>
          </a:xfrm>
          <a:prstGeom prst="ellipse">
            <a:avLst/>
          </a:prstGeom>
          <a:solidFill>
            <a:srgbClr val="141C4A">
              <a:alpha val="90000"/>
            </a:srgbClr>
          </a:solidFill>
          <a:ln w="19050">
            <a:solidFill>
              <a:srgbClr val="00F0FF"/>
            </a:solidFill>
            <a:prstDash val="solid"/>
          </a:ln>
          <a:effectLst>
            <a:outerShdw sx="100000" sy="100000" kx="0" ky="0" algn="bl" rotWithShape="0" blurRad="203200" dist="50800" dir="16200000">
              <a:srgbClr val="00F0FF">
                <a:alpha val="70000"/>
              </a:srgbClr>
            </a:outerShdw>
          </a:effectLst>
        </p:spPr>
      </p:sp>
      <p:pic>
        <p:nvPicPr>
          <p:cNvPr id="6" name="Image 0" descr="icon_envelope.png">    </p:cNvPr>
          <p:cNvPicPr>
            <a:picLocks noChangeAspect="1"/>
          </p:cNvPicPr>
          <p:nvPr/>
        </p:nvPicPr>
        <p:blipFill>
          <a:blip r:embed="rId2"/>
          <a:stretch>
            <a:fillRect/>
          </a:stretch>
        </p:blipFill>
        <p:spPr>
          <a:xfrm>
            <a:off x="1926184" y="4160520"/>
            <a:ext cx="658368" cy="658368"/>
          </a:xfrm>
          <a:prstGeom prst="rect">
            <a:avLst/>
          </a:prstGeom>
        </p:spPr>
      </p:pic>
      <p:sp>
        <p:nvSpPr>
          <p:cNvPr id="7" name="Text 4"/>
          <p:cNvSpPr/>
          <p:nvPr/>
        </p:nvSpPr>
        <p:spPr>
          <a:xfrm>
            <a:off x="563728" y="4965192"/>
            <a:ext cx="3383280" cy="292608"/>
          </a:xfrm>
          <a:prstGeom prst="rect">
            <a:avLst/>
          </a:prstGeom>
          <a:noFill/>
          <a:ln/>
        </p:spPr>
        <p:txBody>
          <a:bodyPr wrap="square" rtlCol="0" anchor="ctr"/>
          <a:lstStyle/>
          <a:p>
            <a:pPr algn="ctr" indent="0" marL="0">
              <a:buNone/>
            </a:pPr>
            <a:r>
              <a:rPr lang="en-US" sz="1300" b="1" spc="100" kern="0" dirty="0">
                <a:solidFill>
                  <a:srgbClr val="00F0FF"/>
                </a:solidFill>
                <a:effectLst>
                  <a:glow rad="63500">
                    <a:srgbClr val="00F0FF">
                      <a:alpha val="40000"/>
                    </a:srgbClr>
                  </a:glow>
                </a:effectLst>
                <a:latin typeface="Montserrat" pitchFamily="34" charset="0"/>
                <a:ea typeface="Montserrat" pitchFamily="34" charset="-122"/>
                <a:cs typeface="Montserrat" pitchFamily="34" charset="-120"/>
              </a:rPr>
              <a:t>Email</a:t>
            </a:r>
            <a:endParaRPr lang="en-US" sz="1300" dirty="0"/>
          </a:p>
        </p:txBody>
      </p:sp>
      <p:sp>
        <p:nvSpPr>
          <p:cNvPr id="8" name="Text 5"/>
          <p:cNvSpPr/>
          <p:nvPr/>
        </p:nvSpPr>
        <p:spPr>
          <a:xfrm>
            <a:off x="472288" y="5212080"/>
            <a:ext cx="3566160" cy="27432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satishreddygunukula@gmail.com</a:t>
            </a:r>
            <a:endParaRPr lang="en-US" sz="1150" dirty="0"/>
          </a:p>
        </p:txBody>
      </p:sp>
      <p:sp>
        <p:nvSpPr>
          <p:cNvPr id="9" name="Shape 6"/>
          <p:cNvSpPr/>
          <p:nvPr/>
        </p:nvSpPr>
        <p:spPr>
          <a:xfrm>
            <a:off x="4404208" y="3794760"/>
            <a:ext cx="3383280" cy="1600200"/>
          </a:xfrm>
          <a:prstGeom prst="roundRect">
            <a:avLst>
              <a:gd name="adj" fmla="val 8000"/>
            </a:avLst>
          </a:prstGeom>
          <a:solidFill>
            <a:srgbClr val="10173D">
              <a:alpha val="88000"/>
            </a:srgbClr>
          </a:solidFill>
          <a:ln w="19050">
            <a:solidFill>
              <a:srgbClr val="FF00FF"/>
            </a:solidFill>
            <a:prstDash val="solid"/>
          </a:ln>
          <a:effectLst>
            <a:outerShdw sx="100000" sy="100000" kx="0" ky="0" algn="bl" rotWithShape="0" blurRad="254000" dist="50800" dir="16200000">
              <a:srgbClr val="FF00FF">
                <a:alpha val="55000"/>
              </a:srgbClr>
            </a:outerShdw>
          </a:effectLst>
        </p:spPr>
      </p:sp>
      <p:sp>
        <p:nvSpPr>
          <p:cNvPr id="10" name="Shape 7"/>
          <p:cNvSpPr/>
          <p:nvPr/>
        </p:nvSpPr>
        <p:spPr>
          <a:xfrm>
            <a:off x="5592928" y="3995928"/>
            <a:ext cx="1005840" cy="1005840"/>
          </a:xfrm>
          <a:prstGeom prst="ellipse">
            <a:avLst/>
          </a:prstGeom>
          <a:solidFill>
            <a:srgbClr val="141C4A">
              <a:alpha val="90000"/>
            </a:srgbClr>
          </a:solidFill>
          <a:ln w="19050">
            <a:solidFill>
              <a:srgbClr val="FF00FF"/>
            </a:solidFill>
            <a:prstDash val="solid"/>
          </a:ln>
          <a:effectLst>
            <a:outerShdw sx="100000" sy="100000" kx="0" ky="0" algn="bl" rotWithShape="0" blurRad="203200" dist="50800" dir="16200000">
              <a:srgbClr val="FF00FF">
                <a:alpha val="70000"/>
              </a:srgbClr>
            </a:outerShdw>
          </a:effectLst>
        </p:spPr>
      </p:sp>
      <p:pic>
        <p:nvPicPr>
          <p:cNvPr id="11" name="Image 1" descr="icon_linkedin.png">    </p:cNvPr>
          <p:cNvPicPr>
            <a:picLocks noChangeAspect="1"/>
          </p:cNvPicPr>
          <p:nvPr/>
        </p:nvPicPr>
        <p:blipFill>
          <a:blip r:embed="rId3"/>
          <a:stretch>
            <a:fillRect/>
          </a:stretch>
        </p:blipFill>
        <p:spPr>
          <a:xfrm>
            <a:off x="5766664" y="4160520"/>
            <a:ext cx="658368" cy="658368"/>
          </a:xfrm>
          <a:prstGeom prst="rect">
            <a:avLst/>
          </a:prstGeom>
        </p:spPr>
      </p:pic>
      <p:sp>
        <p:nvSpPr>
          <p:cNvPr id="12" name="Text 8"/>
          <p:cNvSpPr/>
          <p:nvPr/>
        </p:nvSpPr>
        <p:spPr>
          <a:xfrm>
            <a:off x="4404208" y="4965192"/>
            <a:ext cx="3383280" cy="292608"/>
          </a:xfrm>
          <a:prstGeom prst="rect">
            <a:avLst/>
          </a:prstGeom>
          <a:noFill/>
          <a:ln/>
        </p:spPr>
        <p:txBody>
          <a:bodyPr wrap="square" rtlCol="0" anchor="ctr"/>
          <a:lstStyle/>
          <a:p>
            <a:pPr algn="ctr" indent="0" marL="0">
              <a:buNone/>
            </a:pPr>
            <a:r>
              <a:rPr lang="en-US" sz="1300" b="1" spc="100" kern="0" dirty="0">
                <a:solidFill>
                  <a:srgbClr val="FF00FF"/>
                </a:solidFill>
                <a:effectLst>
                  <a:glow rad="63500">
                    <a:srgbClr val="FF00FF">
                      <a:alpha val="40000"/>
                    </a:srgbClr>
                  </a:glow>
                </a:effectLst>
                <a:latin typeface="Montserrat" pitchFamily="34" charset="0"/>
                <a:ea typeface="Montserrat" pitchFamily="34" charset="-122"/>
                <a:cs typeface="Montserrat" pitchFamily="34" charset="-120"/>
              </a:rPr>
              <a:t>LinkedIn</a:t>
            </a:r>
            <a:endParaRPr lang="en-US" sz="1300" dirty="0"/>
          </a:p>
        </p:txBody>
      </p:sp>
      <p:sp>
        <p:nvSpPr>
          <p:cNvPr id="13" name="Text 9"/>
          <p:cNvSpPr/>
          <p:nvPr/>
        </p:nvSpPr>
        <p:spPr>
          <a:xfrm>
            <a:off x="4312768" y="5212080"/>
            <a:ext cx="3566160" cy="27432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[linkedin.com/in/yourhandle]</a:t>
            </a:r>
            <a:endParaRPr lang="en-US" sz="1150" dirty="0"/>
          </a:p>
        </p:txBody>
      </p:sp>
      <p:sp>
        <p:nvSpPr>
          <p:cNvPr id="14" name="Shape 10"/>
          <p:cNvSpPr/>
          <p:nvPr/>
        </p:nvSpPr>
        <p:spPr>
          <a:xfrm>
            <a:off x="8244688" y="3794760"/>
            <a:ext cx="3383280" cy="1600200"/>
          </a:xfrm>
          <a:prstGeom prst="roundRect">
            <a:avLst>
              <a:gd name="adj" fmla="val 8000"/>
            </a:avLst>
          </a:prstGeom>
          <a:solidFill>
            <a:srgbClr val="10173D">
              <a:alpha val="88000"/>
            </a:srgbClr>
          </a:solidFill>
          <a:ln w="19050">
            <a:solidFill>
              <a:srgbClr val="00FF00"/>
            </a:solidFill>
            <a:prstDash val="solid"/>
          </a:ln>
          <a:effectLst>
            <a:outerShdw sx="100000" sy="100000" kx="0" ky="0" algn="bl" rotWithShape="0" blurRad="254000" dist="50800" dir="16200000">
              <a:srgbClr val="00FF00">
                <a:alpha val="55000"/>
              </a:srgbClr>
            </a:outerShdw>
          </a:effectLst>
        </p:spPr>
      </p:sp>
      <p:sp>
        <p:nvSpPr>
          <p:cNvPr id="15" name="Shape 11"/>
          <p:cNvSpPr/>
          <p:nvPr/>
        </p:nvSpPr>
        <p:spPr>
          <a:xfrm>
            <a:off x="9433408" y="3995928"/>
            <a:ext cx="1005840" cy="1005840"/>
          </a:xfrm>
          <a:prstGeom prst="ellipse">
            <a:avLst/>
          </a:prstGeom>
          <a:solidFill>
            <a:srgbClr val="141C4A">
              <a:alpha val="90000"/>
            </a:srgbClr>
          </a:solidFill>
          <a:ln w="19050">
            <a:solidFill>
              <a:srgbClr val="00FF00"/>
            </a:solidFill>
            <a:prstDash val="solid"/>
          </a:ln>
          <a:effectLst>
            <a:outerShdw sx="100000" sy="100000" kx="0" ky="0" algn="bl" rotWithShape="0" blurRad="203200" dist="50800" dir="16200000">
              <a:srgbClr val="00FF00">
                <a:alpha val="70000"/>
              </a:srgbClr>
            </a:outerShdw>
          </a:effectLst>
        </p:spPr>
      </p:sp>
      <p:pic>
        <p:nvPicPr>
          <p:cNvPr id="16" name="Image 2" descr="icon_globe.png">    </p:cNvPr>
          <p:cNvPicPr>
            <a:picLocks noChangeAspect="1"/>
          </p:cNvPicPr>
          <p:nvPr/>
        </p:nvPicPr>
        <p:blipFill>
          <a:blip r:embed="rId4"/>
          <a:stretch>
            <a:fillRect/>
          </a:stretch>
        </p:blipFill>
        <p:spPr>
          <a:xfrm>
            <a:off x="9607144" y="4160520"/>
            <a:ext cx="658368" cy="658368"/>
          </a:xfrm>
          <a:prstGeom prst="rect">
            <a:avLst/>
          </a:prstGeom>
        </p:spPr>
      </p:pic>
      <p:sp>
        <p:nvSpPr>
          <p:cNvPr id="17" name="Text 12"/>
          <p:cNvSpPr/>
          <p:nvPr/>
        </p:nvSpPr>
        <p:spPr>
          <a:xfrm>
            <a:off x="8244688" y="4965192"/>
            <a:ext cx="3383280" cy="292608"/>
          </a:xfrm>
          <a:prstGeom prst="rect">
            <a:avLst/>
          </a:prstGeom>
          <a:noFill/>
          <a:ln/>
        </p:spPr>
        <p:txBody>
          <a:bodyPr wrap="square" rtlCol="0" anchor="ctr"/>
          <a:lstStyle/>
          <a:p>
            <a:pPr algn="ctr" indent="0" marL="0">
              <a:buNone/>
            </a:pPr>
            <a:r>
              <a:rPr lang="en-US" sz="1300" b="1" spc="100" kern="0" dirty="0">
                <a:solidFill>
                  <a:srgbClr val="00FF00"/>
                </a:solidFill>
                <a:effectLst>
                  <a:glow rad="63500">
                    <a:srgbClr val="00FF00">
                      <a:alpha val="40000"/>
                    </a:srgbClr>
                  </a:glow>
                </a:effectLst>
                <a:latin typeface="Montserrat" pitchFamily="34" charset="0"/>
                <a:ea typeface="Montserrat" pitchFamily="34" charset="-122"/>
                <a:cs typeface="Montserrat" pitchFamily="34" charset="-120"/>
              </a:rPr>
              <a:t>Website</a:t>
            </a:r>
            <a:endParaRPr lang="en-US" sz="1300" dirty="0"/>
          </a:p>
        </p:txBody>
      </p:sp>
      <p:sp>
        <p:nvSpPr>
          <p:cNvPr id="18" name="Text 13"/>
          <p:cNvSpPr/>
          <p:nvPr/>
        </p:nvSpPr>
        <p:spPr>
          <a:xfrm>
            <a:off x="8153248" y="5212080"/>
            <a:ext cx="3566160" cy="274320"/>
          </a:xfrm>
          <a:prstGeom prst="rect">
            <a:avLst/>
          </a:prstGeom>
          <a:noFill/>
          <a:ln/>
        </p:spPr>
        <p:txBody>
          <a:bodyPr wrap="square" rtlCol="0" anchor="ctr"/>
          <a:lstStyle/>
          <a:p>
            <a:pPr algn="ctr" indent="0" marL="0">
              <a:buNone/>
            </a:pPr>
            <a:r>
              <a:rPr lang="en-US" sz="1150" dirty="0">
                <a:solidFill>
                  <a:srgbClr val="9AA6D6"/>
                </a:solidFill>
                <a:latin typeface="Arial" pitchFamily="34" charset="0"/>
                <a:ea typeface="Arial" pitchFamily="34" charset="-122"/>
                <a:cs typeface="Arial" pitchFamily="34" charset="-120"/>
              </a:rPr>
              <a:t>[yourdomain.com]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GTM Strategy Simulator</dc:title>
  <dc:subject>PptxGenJS Presentation</dc:subject>
  <dc:creator>Satish</dc:creator>
  <cp:lastModifiedBy>Satish</cp:lastModifiedBy>
  <cp:revision>1</cp:revision>
  <dcterms:created xsi:type="dcterms:W3CDTF">2026-07-23T02:31:50Z</dcterms:created>
  <dcterms:modified xsi:type="dcterms:W3CDTF">2026-07-23T02:31:50Z</dcterms:modified>
</cp:coreProperties>
</file>